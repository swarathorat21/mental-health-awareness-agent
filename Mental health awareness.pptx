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83" r:id="rId2"/>
    <p:sldId id="288" r:id="rId3"/>
    <p:sldId id="289" r:id="rId4"/>
    <p:sldId id="293" r:id="rId5"/>
    <p:sldId id="292" r:id="rId6"/>
    <p:sldId id="291" r:id="rId7"/>
    <p:sldId id="290" r:id="rId8"/>
    <p:sldId id="294" r:id="rId9"/>
    <p:sldId id="295" r:id="rId10"/>
    <p:sldId id="296" r:id="rId11"/>
    <p:sldId id="297" r:id="rId12"/>
    <p:sldId id="299" r:id="rId13"/>
    <p:sldId id="304" r:id="rId14"/>
    <p:sldId id="300" r:id="rId15"/>
    <p:sldId id="301" r:id="rId16"/>
    <p:sldId id="302" r:id="rId17"/>
    <p:sldId id="303" r:id="rId18"/>
    <p:sldId id="305" r:id="rId19"/>
    <p:sldId id="306" r:id="rId20"/>
    <p:sldId id="308"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E45300D-FA16-4A35-9B22-21B3B86E0D96}" v="18" dt="2026-06-26T13:47:15.89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773" autoAdjust="0"/>
  </p:normalViewPr>
  <p:slideViewPr>
    <p:cSldViewPr snapToGrid="0">
      <p:cViewPr varScale="1">
        <p:scale>
          <a:sx n="78" d="100"/>
          <a:sy n="78" d="100"/>
        </p:scale>
        <p:origin x="878"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5/10/relationships/revisionInfo" Target="revisionInfo.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934021-EA68-5F94-0732-192C7C75305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01DCD765-E1E0-4E49-4648-DA5847DB99D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D388D969-E8BE-2F96-9D1D-039989A9FF6E}"/>
              </a:ext>
            </a:extLst>
          </p:cNvPr>
          <p:cNvSpPr>
            <a:spLocks noGrp="1"/>
          </p:cNvSpPr>
          <p:nvPr>
            <p:ph type="dt" sz="half" idx="10"/>
          </p:nvPr>
        </p:nvSpPr>
        <p:spPr/>
        <p:txBody>
          <a:bodyPr/>
          <a:lstStyle/>
          <a:p>
            <a:fld id="{92508EFE-741E-4313-B9D5-A8F7F27F9750}" type="datetimeFigureOut">
              <a:rPr lang="en-IN" smtClean="0"/>
              <a:t>26-06-2026</a:t>
            </a:fld>
            <a:endParaRPr lang="en-IN"/>
          </a:p>
        </p:txBody>
      </p:sp>
      <p:sp>
        <p:nvSpPr>
          <p:cNvPr id="5" name="Footer Placeholder 4">
            <a:extLst>
              <a:ext uri="{FF2B5EF4-FFF2-40B4-BE49-F238E27FC236}">
                <a16:creationId xmlns:a16="http://schemas.microsoft.com/office/drawing/2014/main" id="{4DDCAF9E-B7DD-B854-BD05-91CB1415371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0F6AE34-9B51-7612-BEC5-193454EF1EF8}"/>
              </a:ext>
            </a:extLst>
          </p:cNvPr>
          <p:cNvSpPr>
            <a:spLocks noGrp="1"/>
          </p:cNvSpPr>
          <p:nvPr>
            <p:ph type="sldNum" sz="quarter" idx="12"/>
          </p:nvPr>
        </p:nvSpPr>
        <p:spPr/>
        <p:txBody>
          <a:bodyPr/>
          <a:lstStyle/>
          <a:p>
            <a:fld id="{CB851A8C-2440-4DAA-904E-2EFBFD063734}" type="slidenum">
              <a:rPr lang="en-IN" smtClean="0"/>
              <a:t>‹#›</a:t>
            </a:fld>
            <a:endParaRPr lang="en-IN"/>
          </a:p>
        </p:txBody>
      </p:sp>
    </p:spTree>
    <p:extLst>
      <p:ext uri="{BB962C8B-B14F-4D97-AF65-F5344CB8AC3E}">
        <p14:creationId xmlns:p14="http://schemas.microsoft.com/office/powerpoint/2010/main" val="30300273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7972FC-9513-EE03-2DE4-50AF94F042C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E4D4162-648B-B396-7565-32417820F0F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65983DD-536F-9A93-40F7-3F8DC60E2A6F}"/>
              </a:ext>
            </a:extLst>
          </p:cNvPr>
          <p:cNvSpPr>
            <a:spLocks noGrp="1"/>
          </p:cNvSpPr>
          <p:nvPr>
            <p:ph type="dt" sz="half" idx="10"/>
          </p:nvPr>
        </p:nvSpPr>
        <p:spPr/>
        <p:txBody>
          <a:bodyPr/>
          <a:lstStyle/>
          <a:p>
            <a:fld id="{92508EFE-741E-4313-B9D5-A8F7F27F9750}" type="datetimeFigureOut">
              <a:rPr lang="en-IN" smtClean="0"/>
              <a:t>26-06-2026</a:t>
            </a:fld>
            <a:endParaRPr lang="en-IN"/>
          </a:p>
        </p:txBody>
      </p:sp>
      <p:sp>
        <p:nvSpPr>
          <p:cNvPr id="5" name="Footer Placeholder 4">
            <a:extLst>
              <a:ext uri="{FF2B5EF4-FFF2-40B4-BE49-F238E27FC236}">
                <a16:creationId xmlns:a16="http://schemas.microsoft.com/office/drawing/2014/main" id="{BF57194D-067A-BFB7-54A5-AEE3966273C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EED95E6-8A94-4130-FF13-3B37284E8ECB}"/>
              </a:ext>
            </a:extLst>
          </p:cNvPr>
          <p:cNvSpPr>
            <a:spLocks noGrp="1"/>
          </p:cNvSpPr>
          <p:nvPr>
            <p:ph type="sldNum" sz="quarter" idx="12"/>
          </p:nvPr>
        </p:nvSpPr>
        <p:spPr/>
        <p:txBody>
          <a:bodyPr/>
          <a:lstStyle/>
          <a:p>
            <a:fld id="{CB851A8C-2440-4DAA-904E-2EFBFD063734}" type="slidenum">
              <a:rPr lang="en-IN" smtClean="0"/>
              <a:t>‹#›</a:t>
            </a:fld>
            <a:endParaRPr lang="en-IN"/>
          </a:p>
        </p:txBody>
      </p:sp>
    </p:spTree>
    <p:extLst>
      <p:ext uri="{BB962C8B-B14F-4D97-AF65-F5344CB8AC3E}">
        <p14:creationId xmlns:p14="http://schemas.microsoft.com/office/powerpoint/2010/main" val="41323896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79ADD0-2EFA-AB99-6CFD-66846B8EF65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DAE0346B-F053-5491-44BE-0D2EF7BC9AC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A2200BE-108C-B8BC-5E3E-0D8C650C4976}"/>
              </a:ext>
            </a:extLst>
          </p:cNvPr>
          <p:cNvSpPr>
            <a:spLocks noGrp="1"/>
          </p:cNvSpPr>
          <p:nvPr>
            <p:ph type="dt" sz="half" idx="10"/>
          </p:nvPr>
        </p:nvSpPr>
        <p:spPr/>
        <p:txBody>
          <a:bodyPr/>
          <a:lstStyle/>
          <a:p>
            <a:fld id="{92508EFE-741E-4313-B9D5-A8F7F27F9750}" type="datetimeFigureOut">
              <a:rPr lang="en-IN" smtClean="0"/>
              <a:t>26-06-2026</a:t>
            </a:fld>
            <a:endParaRPr lang="en-IN"/>
          </a:p>
        </p:txBody>
      </p:sp>
      <p:sp>
        <p:nvSpPr>
          <p:cNvPr id="5" name="Footer Placeholder 4">
            <a:extLst>
              <a:ext uri="{FF2B5EF4-FFF2-40B4-BE49-F238E27FC236}">
                <a16:creationId xmlns:a16="http://schemas.microsoft.com/office/drawing/2014/main" id="{A8FEDC0B-52F2-B92D-EFF1-FCD01873520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AF767B6-1B9E-3912-46E5-B62A99BD8BF3}"/>
              </a:ext>
            </a:extLst>
          </p:cNvPr>
          <p:cNvSpPr>
            <a:spLocks noGrp="1"/>
          </p:cNvSpPr>
          <p:nvPr>
            <p:ph type="sldNum" sz="quarter" idx="12"/>
          </p:nvPr>
        </p:nvSpPr>
        <p:spPr/>
        <p:txBody>
          <a:bodyPr/>
          <a:lstStyle/>
          <a:p>
            <a:fld id="{CB851A8C-2440-4DAA-904E-2EFBFD063734}" type="slidenum">
              <a:rPr lang="en-IN" smtClean="0"/>
              <a:t>‹#›</a:t>
            </a:fld>
            <a:endParaRPr lang="en-IN"/>
          </a:p>
        </p:txBody>
      </p:sp>
    </p:spTree>
    <p:extLst>
      <p:ext uri="{BB962C8B-B14F-4D97-AF65-F5344CB8AC3E}">
        <p14:creationId xmlns:p14="http://schemas.microsoft.com/office/powerpoint/2010/main" val="42737071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159FE7-1E3C-414C-76F1-CFBB82B2ED1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22474AB-E063-E62E-220E-2AA21FDB86E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365B5FBB-94E2-4A89-1F99-55DA5DF47C8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B68C697D-3293-1723-1311-B1BE436FC4C5}"/>
              </a:ext>
            </a:extLst>
          </p:cNvPr>
          <p:cNvSpPr>
            <a:spLocks noGrp="1"/>
          </p:cNvSpPr>
          <p:nvPr>
            <p:ph type="dt" sz="half" idx="10"/>
          </p:nvPr>
        </p:nvSpPr>
        <p:spPr/>
        <p:txBody>
          <a:bodyPr/>
          <a:lstStyle/>
          <a:p>
            <a:fld id="{92508EFE-741E-4313-B9D5-A8F7F27F9750}" type="datetimeFigureOut">
              <a:rPr lang="en-IN" smtClean="0"/>
              <a:t>26-06-2026</a:t>
            </a:fld>
            <a:endParaRPr lang="en-IN"/>
          </a:p>
        </p:txBody>
      </p:sp>
      <p:sp>
        <p:nvSpPr>
          <p:cNvPr id="6" name="Footer Placeholder 5">
            <a:extLst>
              <a:ext uri="{FF2B5EF4-FFF2-40B4-BE49-F238E27FC236}">
                <a16:creationId xmlns:a16="http://schemas.microsoft.com/office/drawing/2014/main" id="{484B9046-24C8-1C87-FAED-9E02A880C6D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3BC0051-3265-244E-2550-F41724BA1853}"/>
              </a:ext>
            </a:extLst>
          </p:cNvPr>
          <p:cNvSpPr>
            <a:spLocks noGrp="1"/>
          </p:cNvSpPr>
          <p:nvPr>
            <p:ph type="sldNum" sz="quarter" idx="12"/>
          </p:nvPr>
        </p:nvSpPr>
        <p:spPr/>
        <p:txBody>
          <a:bodyPr/>
          <a:lstStyle/>
          <a:p>
            <a:fld id="{CB851A8C-2440-4DAA-904E-2EFBFD063734}" type="slidenum">
              <a:rPr lang="en-IN" smtClean="0"/>
              <a:t>‹#›</a:t>
            </a:fld>
            <a:endParaRPr lang="en-IN"/>
          </a:p>
        </p:txBody>
      </p:sp>
    </p:spTree>
    <p:extLst>
      <p:ext uri="{BB962C8B-B14F-4D97-AF65-F5344CB8AC3E}">
        <p14:creationId xmlns:p14="http://schemas.microsoft.com/office/powerpoint/2010/main" val="18811499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1AEBF3-90CD-79EE-44FE-97A75764A884}"/>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9BA31D3-ED85-5FAE-8DB4-A47CDD0B901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270BF0B-12FB-9C20-6F2E-4E8D74B64E7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84F7DC7B-6AC5-506A-0197-DDE6BC74D5A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68C67A0-6E0C-1677-D2A4-650CFB285FA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2D090EA2-E52D-78B2-EB4A-09DAE600A611}"/>
              </a:ext>
            </a:extLst>
          </p:cNvPr>
          <p:cNvSpPr>
            <a:spLocks noGrp="1"/>
          </p:cNvSpPr>
          <p:nvPr>
            <p:ph type="dt" sz="half" idx="10"/>
          </p:nvPr>
        </p:nvSpPr>
        <p:spPr/>
        <p:txBody>
          <a:bodyPr/>
          <a:lstStyle/>
          <a:p>
            <a:fld id="{92508EFE-741E-4313-B9D5-A8F7F27F9750}" type="datetimeFigureOut">
              <a:rPr lang="en-IN" smtClean="0"/>
              <a:t>26-06-2026</a:t>
            </a:fld>
            <a:endParaRPr lang="en-IN"/>
          </a:p>
        </p:txBody>
      </p:sp>
      <p:sp>
        <p:nvSpPr>
          <p:cNvPr id="8" name="Footer Placeholder 7">
            <a:extLst>
              <a:ext uri="{FF2B5EF4-FFF2-40B4-BE49-F238E27FC236}">
                <a16:creationId xmlns:a16="http://schemas.microsoft.com/office/drawing/2014/main" id="{8E3625B9-88EE-0534-D5A0-743466E0E758}"/>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21FC2663-4979-2E65-63BF-17D890A311E3}"/>
              </a:ext>
            </a:extLst>
          </p:cNvPr>
          <p:cNvSpPr>
            <a:spLocks noGrp="1"/>
          </p:cNvSpPr>
          <p:nvPr>
            <p:ph type="sldNum" sz="quarter" idx="12"/>
          </p:nvPr>
        </p:nvSpPr>
        <p:spPr/>
        <p:txBody>
          <a:bodyPr/>
          <a:lstStyle/>
          <a:p>
            <a:fld id="{CB851A8C-2440-4DAA-904E-2EFBFD063734}" type="slidenum">
              <a:rPr lang="en-IN" smtClean="0"/>
              <a:t>‹#›</a:t>
            </a:fld>
            <a:endParaRPr lang="en-IN"/>
          </a:p>
        </p:txBody>
      </p:sp>
    </p:spTree>
    <p:extLst>
      <p:ext uri="{BB962C8B-B14F-4D97-AF65-F5344CB8AC3E}">
        <p14:creationId xmlns:p14="http://schemas.microsoft.com/office/powerpoint/2010/main" val="25130012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6A6039-2636-1161-9121-FAAE51C1CCD3}"/>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22118F32-3895-59E9-B797-1379BB56FA1C}"/>
              </a:ext>
            </a:extLst>
          </p:cNvPr>
          <p:cNvSpPr>
            <a:spLocks noGrp="1"/>
          </p:cNvSpPr>
          <p:nvPr>
            <p:ph type="dt" sz="half" idx="10"/>
          </p:nvPr>
        </p:nvSpPr>
        <p:spPr/>
        <p:txBody>
          <a:bodyPr/>
          <a:lstStyle/>
          <a:p>
            <a:fld id="{92508EFE-741E-4313-B9D5-A8F7F27F9750}" type="datetimeFigureOut">
              <a:rPr lang="en-IN" smtClean="0"/>
              <a:t>26-06-2026</a:t>
            </a:fld>
            <a:endParaRPr lang="en-IN"/>
          </a:p>
        </p:txBody>
      </p:sp>
      <p:sp>
        <p:nvSpPr>
          <p:cNvPr id="4" name="Footer Placeholder 3">
            <a:extLst>
              <a:ext uri="{FF2B5EF4-FFF2-40B4-BE49-F238E27FC236}">
                <a16:creationId xmlns:a16="http://schemas.microsoft.com/office/drawing/2014/main" id="{D64A78A4-33AD-53D0-DF00-B146887F40DB}"/>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FFE1F575-710E-0D7A-0330-4E53DC67B17E}"/>
              </a:ext>
            </a:extLst>
          </p:cNvPr>
          <p:cNvSpPr>
            <a:spLocks noGrp="1"/>
          </p:cNvSpPr>
          <p:nvPr>
            <p:ph type="sldNum" sz="quarter" idx="12"/>
          </p:nvPr>
        </p:nvSpPr>
        <p:spPr/>
        <p:txBody>
          <a:bodyPr/>
          <a:lstStyle/>
          <a:p>
            <a:fld id="{CB851A8C-2440-4DAA-904E-2EFBFD063734}" type="slidenum">
              <a:rPr lang="en-IN" smtClean="0"/>
              <a:t>‹#›</a:t>
            </a:fld>
            <a:endParaRPr lang="en-IN"/>
          </a:p>
        </p:txBody>
      </p:sp>
    </p:spTree>
    <p:extLst>
      <p:ext uri="{BB962C8B-B14F-4D97-AF65-F5344CB8AC3E}">
        <p14:creationId xmlns:p14="http://schemas.microsoft.com/office/powerpoint/2010/main" val="30836070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00687F6-D90D-F0D1-05A0-0967DA87F1F7}"/>
              </a:ext>
            </a:extLst>
          </p:cNvPr>
          <p:cNvSpPr>
            <a:spLocks noGrp="1"/>
          </p:cNvSpPr>
          <p:nvPr>
            <p:ph type="dt" sz="half" idx="10"/>
          </p:nvPr>
        </p:nvSpPr>
        <p:spPr/>
        <p:txBody>
          <a:bodyPr/>
          <a:lstStyle/>
          <a:p>
            <a:fld id="{92508EFE-741E-4313-B9D5-A8F7F27F9750}" type="datetimeFigureOut">
              <a:rPr lang="en-IN" smtClean="0"/>
              <a:t>26-06-2026</a:t>
            </a:fld>
            <a:endParaRPr lang="en-IN"/>
          </a:p>
        </p:txBody>
      </p:sp>
      <p:sp>
        <p:nvSpPr>
          <p:cNvPr id="3" name="Footer Placeholder 2">
            <a:extLst>
              <a:ext uri="{FF2B5EF4-FFF2-40B4-BE49-F238E27FC236}">
                <a16:creationId xmlns:a16="http://schemas.microsoft.com/office/drawing/2014/main" id="{00BAF0FF-1785-FC6D-EB7F-F1320655152D}"/>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4CFF1D59-D712-50DE-6362-09D1A0509518}"/>
              </a:ext>
            </a:extLst>
          </p:cNvPr>
          <p:cNvSpPr>
            <a:spLocks noGrp="1"/>
          </p:cNvSpPr>
          <p:nvPr>
            <p:ph type="sldNum" sz="quarter" idx="12"/>
          </p:nvPr>
        </p:nvSpPr>
        <p:spPr/>
        <p:txBody>
          <a:bodyPr/>
          <a:lstStyle/>
          <a:p>
            <a:fld id="{CB851A8C-2440-4DAA-904E-2EFBFD063734}" type="slidenum">
              <a:rPr lang="en-IN" smtClean="0"/>
              <a:t>‹#›</a:t>
            </a:fld>
            <a:endParaRPr lang="en-IN"/>
          </a:p>
        </p:txBody>
      </p:sp>
    </p:spTree>
    <p:extLst>
      <p:ext uri="{BB962C8B-B14F-4D97-AF65-F5344CB8AC3E}">
        <p14:creationId xmlns:p14="http://schemas.microsoft.com/office/powerpoint/2010/main" val="17615558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4D57AF-5D7C-CDBA-EF95-0305ABF967E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965ABF52-784D-11F5-D6BB-3C254F7A258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452556FF-998D-5DD9-914D-07D1ADDDE4E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556F0F3-ED3E-8696-5EC7-675BF96B451E}"/>
              </a:ext>
            </a:extLst>
          </p:cNvPr>
          <p:cNvSpPr>
            <a:spLocks noGrp="1"/>
          </p:cNvSpPr>
          <p:nvPr>
            <p:ph type="dt" sz="half" idx="10"/>
          </p:nvPr>
        </p:nvSpPr>
        <p:spPr/>
        <p:txBody>
          <a:bodyPr/>
          <a:lstStyle/>
          <a:p>
            <a:fld id="{92508EFE-741E-4313-B9D5-A8F7F27F9750}" type="datetimeFigureOut">
              <a:rPr lang="en-IN" smtClean="0"/>
              <a:t>26-06-2026</a:t>
            </a:fld>
            <a:endParaRPr lang="en-IN"/>
          </a:p>
        </p:txBody>
      </p:sp>
      <p:sp>
        <p:nvSpPr>
          <p:cNvPr id="6" name="Footer Placeholder 5">
            <a:extLst>
              <a:ext uri="{FF2B5EF4-FFF2-40B4-BE49-F238E27FC236}">
                <a16:creationId xmlns:a16="http://schemas.microsoft.com/office/drawing/2014/main" id="{91876175-7131-174B-1422-BF00E350303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FA56951-B25C-824D-92DA-E24DBC4EAA80}"/>
              </a:ext>
            </a:extLst>
          </p:cNvPr>
          <p:cNvSpPr>
            <a:spLocks noGrp="1"/>
          </p:cNvSpPr>
          <p:nvPr>
            <p:ph type="sldNum" sz="quarter" idx="12"/>
          </p:nvPr>
        </p:nvSpPr>
        <p:spPr/>
        <p:txBody>
          <a:bodyPr/>
          <a:lstStyle/>
          <a:p>
            <a:fld id="{CB851A8C-2440-4DAA-904E-2EFBFD063734}" type="slidenum">
              <a:rPr lang="en-IN" smtClean="0"/>
              <a:t>‹#›</a:t>
            </a:fld>
            <a:endParaRPr lang="en-IN"/>
          </a:p>
        </p:txBody>
      </p:sp>
    </p:spTree>
    <p:extLst>
      <p:ext uri="{BB962C8B-B14F-4D97-AF65-F5344CB8AC3E}">
        <p14:creationId xmlns:p14="http://schemas.microsoft.com/office/powerpoint/2010/main" val="37984571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4F8FA1-A660-FEE2-A14E-5495066BC95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CC0EE1C3-C86E-2DC1-7DAA-E056910FB82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DE0C2ADC-2092-BFF2-8D6B-43F6EB05009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B63B921-9385-130B-215D-8C20F16B394A}"/>
              </a:ext>
            </a:extLst>
          </p:cNvPr>
          <p:cNvSpPr>
            <a:spLocks noGrp="1"/>
          </p:cNvSpPr>
          <p:nvPr>
            <p:ph type="dt" sz="half" idx="10"/>
          </p:nvPr>
        </p:nvSpPr>
        <p:spPr/>
        <p:txBody>
          <a:bodyPr/>
          <a:lstStyle/>
          <a:p>
            <a:fld id="{92508EFE-741E-4313-B9D5-A8F7F27F9750}" type="datetimeFigureOut">
              <a:rPr lang="en-IN" smtClean="0"/>
              <a:t>26-06-2026</a:t>
            </a:fld>
            <a:endParaRPr lang="en-IN"/>
          </a:p>
        </p:txBody>
      </p:sp>
      <p:sp>
        <p:nvSpPr>
          <p:cNvPr id="6" name="Footer Placeholder 5">
            <a:extLst>
              <a:ext uri="{FF2B5EF4-FFF2-40B4-BE49-F238E27FC236}">
                <a16:creationId xmlns:a16="http://schemas.microsoft.com/office/drawing/2014/main" id="{7FF052F6-038F-4B8A-89B7-B49E74050D6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4A4FFC8-6289-FF3E-A2A5-F6D2F2B843ED}"/>
              </a:ext>
            </a:extLst>
          </p:cNvPr>
          <p:cNvSpPr>
            <a:spLocks noGrp="1"/>
          </p:cNvSpPr>
          <p:nvPr>
            <p:ph type="sldNum" sz="quarter" idx="12"/>
          </p:nvPr>
        </p:nvSpPr>
        <p:spPr/>
        <p:txBody>
          <a:bodyPr/>
          <a:lstStyle/>
          <a:p>
            <a:fld id="{CB851A8C-2440-4DAA-904E-2EFBFD063734}" type="slidenum">
              <a:rPr lang="en-IN" smtClean="0"/>
              <a:t>‹#›</a:t>
            </a:fld>
            <a:endParaRPr lang="en-IN"/>
          </a:p>
        </p:txBody>
      </p:sp>
    </p:spTree>
    <p:extLst>
      <p:ext uri="{BB962C8B-B14F-4D97-AF65-F5344CB8AC3E}">
        <p14:creationId xmlns:p14="http://schemas.microsoft.com/office/powerpoint/2010/main" val="38451669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965243-B303-F5B4-CBC9-41FE90E98351}"/>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214FF78-7748-9E0D-14BA-35CCE66C7A4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1E21C36-2EB4-8E7F-4DD4-BCB2EFDBF24A}"/>
              </a:ext>
            </a:extLst>
          </p:cNvPr>
          <p:cNvSpPr>
            <a:spLocks noGrp="1"/>
          </p:cNvSpPr>
          <p:nvPr>
            <p:ph type="dt" sz="half" idx="10"/>
          </p:nvPr>
        </p:nvSpPr>
        <p:spPr/>
        <p:txBody>
          <a:bodyPr/>
          <a:lstStyle/>
          <a:p>
            <a:fld id="{92508EFE-741E-4313-B9D5-A8F7F27F9750}" type="datetimeFigureOut">
              <a:rPr lang="en-IN" smtClean="0"/>
              <a:t>26-06-2026</a:t>
            </a:fld>
            <a:endParaRPr lang="en-IN"/>
          </a:p>
        </p:txBody>
      </p:sp>
      <p:sp>
        <p:nvSpPr>
          <p:cNvPr id="5" name="Footer Placeholder 4">
            <a:extLst>
              <a:ext uri="{FF2B5EF4-FFF2-40B4-BE49-F238E27FC236}">
                <a16:creationId xmlns:a16="http://schemas.microsoft.com/office/drawing/2014/main" id="{F7A5DA30-2D13-1268-C05C-3236AB2FFB7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BE51155-7673-6DA5-614B-DFEF007A6074}"/>
              </a:ext>
            </a:extLst>
          </p:cNvPr>
          <p:cNvSpPr>
            <a:spLocks noGrp="1"/>
          </p:cNvSpPr>
          <p:nvPr>
            <p:ph type="sldNum" sz="quarter" idx="12"/>
          </p:nvPr>
        </p:nvSpPr>
        <p:spPr/>
        <p:txBody>
          <a:bodyPr/>
          <a:lstStyle/>
          <a:p>
            <a:fld id="{CB851A8C-2440-4DAA-904E-2EFBFD063734}" type="slidenum">
              <a:rPr lang="en-IN" smtClean="0"/>
              <a:t>‹#›</a:t>
            </a:fld>
            <a:endParaRPr lang="en-IN"/>
          </a:p>
        </p:txBody>
      </p:sp>
    </p:spTree>
    <p:extLst>
      <p:ext uri="{BB962C8B-B14F-4D97-AF65-F5344CB8AC3E}">
        <p14:creationId xmlns:p14="http://schemas.microsoft.com/office/powerpoint/2010/main" val="11060097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53C75B9-4169-FB1E-F6E2-30FE6B9FACD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25CD1E8-47C9-5BB4-C594-B5C1671B8B7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945EE05-1F3E-45EA-8D1F-0E75E1F15310}"/>
              </a:ext>
            </a:extLst>
          </p:cNvPr>
          <p:cNvSpPr>
            <a:spLocks noGrp="1"/>
          </p:cNvSpPr>
          <p:nvPr>
            <p:ph type="dt" sz="half" idx="10"/>
          </p:nvPr>
        </p:nvSpPr>
        <p:spPr/>
        <p:txBody>
          <a:bodyPr/>
          <a:lstStyle/>
          <a:p>
            <a:fld id="{92508EFE-741E-4313-B9D5-A8F7F27F9750}" type="datetimeFigureOut">
              <a:rPr lang="en-IN" smtClean="0"/>
              <a:t>26-06-2026</a:t>
            </a:fld>
            <a:endParaRPr lang="en-IN"/>
          </a:p>
        </p:txBody>
      </p:sp>
      <p:sp>
        <p:nvSpPr>
          <p:cNvPr id="5" name="Footer Placeholder 4">
            <a:extLst>
              <a:ext uri="{FF2B5EF4-FFF2-40B4-BE49-F238E27FC236}">
                <a16:creationId xmlns:a16="http://schemas.microsoft.com/office/drawing/2014/main" id="{A6F98072-BEBF-EAC0-F804-6F61B048A1B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516445B-7093-8518-AF71-CB2E481E5C51}"/>
              </a:ext>
            </a:extLst>
          </p:cNvPr>
          <p:cNvSpPr>
            <a:spLocks noGrp="1"/>
          </p:cNvSpPr>
          <p:nvPr>
            <p:ph type="sldNum" sz="quarter" idx="12"/>
          </p:nvPr>
        </p:nvSpPr>
        <p:spPr/>
        <p:txBody>
          <a:bodyPr/>
          <a:lstStyle/>
          <a:p>
            <a:fld id="{CB851A8C-2440-4DAA-904E-2EFBFD063734}" type="slidenum">
              <a:rPr lang="en-IN" smtClean="0"/>
              <a:t>‹#›</a:t>
            </a:fld>
            <a:endParaRPr lang="en-IN"/>
          </a:p>
        </p:txBody>
      </p:sp>
    </p:spTree>
    <p:extLst>
      <p:ext uri="{BB962C8B-B14F-4D97-AF65-F5344CB8AC3E}">
        <p14:creationId xmlns:p14="http://schemas.microsoft.com/office/powerpoint/2010/main" val="23620606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1C23D67-0BC9-C088-E3DD-5B1A190FAB4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8F09FAA-F812-F6FE-012B-8E00EB0D8E5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26B6DC0-4DE5-9251-59A7-C4020CF0881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2508EFE-741E-4313-B9D5-A8F7F27F9750}" type="datetimeFigureOut">
              <a:rPr lang="en-IN" smtClean="0"/>
              <a:t>26-06-2026</a:t>
            </a:fld>
            <a:endParaRPr lang="en-IN"/>
          </a:p>
        </p:txBody>
      </p:sp>
      <p:sp>
        <p:nvSpPr>
          <p:cNvPr id="5" name="Footer Placeholder 4">
            <a:extLst>
              <a:ext uri="{FF2B5EF4-FFF2-40B4-BE49-F238E27FC236}">
                <a16:creationId xmlns:a16="http://schemas.microsoft.com/office/drawing/2014/main" id="{44765405-8C90-CD95-33F0-F4487B946BB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CB9AD701-906F-292D-4CDE-E92E1ED67CA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B851A8C-2440-4DAA-904E-2EFBFD063734}" type="slidenum">
              <a:rPr lang="en-IN" smtClean="0"/>
              <a:t>‹#›</a:t>
            </a:fld>
            <a:endParaRPr lang="en-IN"/>
          </a:p>
        </p:txBody>
      </p:sp>
    </p:spTree>
    <p:extLst>
      <p:ext uri="{BB962C8B-B14F-4D97-AF65-F5344CB8AC3E}">
        <p14:creationId xmlns:p14="http://schemas.microsoft.com/office/powerpoint/2010/main" val="26323450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a:t>IBM University Engagement Project Submission</a:t>
            </a:r>
            <a:br>
              <a:rPr lang="en-US" b="1"/>
            </a:br>
            <a:endParaRPr lang="en-IN"/>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a:t>“Exploring the Power of Agentic AI with IBM Cloud and Orchestrate</a:t>
            </a:r>
            <a:r>
              <a:rPr lang="en-US" b="1" i="1" dirty="0"/>
              <a:t>”</a:t>
            </a:r>
            <a:endParaRPr lang="en-IN" dirty="0"/>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CA0F28-4FCC-7F5C-AF23-20CF3321304D}"/>
              </a:ext>
            </a:extLst>
          </p:cNvPr>
          <p:cNvSpPr>
            <a:spLocks noGrp="1"/>
          </p:cNvSpPr>
          <p:nvPr>
            <p:ph type="title"/>
          </p:nvPr>
        </p:nvSpPr>
        <p:spPr>
          <a:xfrm>
            <a:off x="442452" y="365125"/>
            <a:ext cx="10911348" cy="1994617"/>
          </a:xfrm>
        </p:spPr>
        <p:txBody>
          <a:bodyPr>
            <a:normAutofit/>
          </a:bodyPr>
          <a:lstStyle/>
          <a:p>
            <a:r>
              <a:rPr lang="en-US" sz="2800" b="1" u="sng" dirty="0">
                <a:latin typeface="Arial" panose="020B0604020202020204" pitchFamily="34" charset="0"/>
                <a:cs typeface="Arial" panose="020B0604020202020204" pitchFamily="34" charset="0"/>
              </a:rPr>
              <a:t>Project Title :– </a:t>
            </a:r>
            <a:r>
              <a:rPr lang="en-IN" sz="2400" b="1" u="sng" dirty="0">
                <a:latin typeface="Arial" panose="020B0604020202020204" pitchFamily="34" charset="0"/>
                <a:cs typeface="Arial" panose="020B0604020202020204" pitchFamily="34" charset="0"/>
              </a:rPr>
              <a:t>Agentic AI for Mental Health Awareness &amp; Suicide Prevention</a:t>
            </a:r>
            <a:br>
              <a:rPr lang="en-US" sz="2200" b="1" u="sng" dirty="0">
                <a:latin typeface="Arial" panose="020B0604020202020204" pitchFamily="34" charset="0"/>
                <a:cs typeface="Arial" panose="020B0604020202020204" pitchFamily="34" charset="0"/>
              </a:rPr>
            </a:br>
            <a:br>
              <a:rPr lang="en-IN" sz="2200" b="1" u="sng" dirty="0">
                <a:latin typeface="Arial" panose="020B0604020202020204" pitchFamily="34" charset="0"/>
                <a:cs typeface="Arial" panose="020B0604020202020204" pitchFamily="34" charset="0"/>
              </a:rPr>
            </a:br>
            <a:r>
              <a:rPr lang="en-US" sz="2800" b="1" u="sng" dirty="0">
                <a:latin typeface="Arial" panose="020B0604020202020204" pitchFamily="34" charset="0"/>
                <a:cs typeface="Arial" panose="020B0604020202020204" pitchFamily="34" charset="0"/>
              </a:rPr>
              <a:t>Domain of Project :- </a:t>
            </a:r>
            <a:r>
              <a:rPr lang="en-US" sz="2400" b="1" u="sng" dirty="0">
                <a:latin typeface="Arial" panose="020B0604020202020204" pitchFamily="34" charset="0"/>
                <a:cs typeface="Arial" panose="020B0604020202020204" pitchFamily="34" charset="0"/>
              </a:rPr>
              <a:t>Healthcare awareness</a:t>
            </a:r>
            <a:endParaRPr lang="en-IN" sz="2400" u="sng" dirty="0">
              <a:latin typeface="Arial" panose="020B0604020202020204" pitchFamily="34" charset="0"/>
              <a:cs typeface="Arial" panose="020B0604020202020204" pitchFamily="34" charset="0"/>
            </a:endParaRPr>
          </a:p>
        </p:txBody>
      </p:sp>
      <p:graphicFrame>
        <p:nvGraphicFramePr>
          <p:cNvPr id="4" name="Content Placeholder 3">
            <a:extLst>
              <a:ext uri="{FF2B5EF4-FFF2-40B4-BE49-F238E27FC236}">
                <a16:creationId xmlns:a16="http://schemas.microsoft.com/office/drawing/2014/main" id="{ECA492B2-D69B-5E5A-7D61-329092B34A17}"/>
              </a:ext>
            </a:extLst>
          </p:cNvPr>
          <p:cNvGraphicFramePr>
            <a:graphicFrameLocks noGrp="1"/>
          </p:cNvGraphicFramePr>
          <p:nvPr>
            <p:ph idx="1"/>
            <p:extLst>
              <p:ext uri="{D42A27DB-BD31-4B8C-83A1-F6EECF244321}">
                <p14:modId xmlns:p14="http://schemas.microsoft.com/office/powerpoint/2010/main" val="3581684184"/>
              </p:ext>
            </p:extLst>
          </p:nvPr>
        </p:nvGraphicFramePr>
        <p:xfrm>
          <a:off x="442452" y="2359742"/>
          <a:ext cx="11356256" cy="3234813"/>
        </p:xfrm>
        <a:graphic>
          <a:graphicData uri="http://schemas.openxmlformats.org/drawingml/2006/table">
            <a:tbl>
              <a:tblPr firstRow="1" bandRow="1">
                <a:tableStyleId>{5C22544A-7EE6-4342-B048-85BDC9FD1C3A}</a:tableStyleId>
              </a:tblPr>
              <a:tblGrid>
                <a:gridCol w="2839064">
                  <a:extLst>
                    <a:ext uri="{9D8B030D-6E8A-4147-A177-3AD203B41FA5}">
                      <a16:colId xmlns:a16="http://schemas.microsoft.com/office/drawing/2014/main" val="1783727174"/>
                    </a:ext>
                  </a:extLst>
                </a:gridCol>
                <a:gridCol w="2839064">
                  <a:extLst>
                    <a:ext uri="{9D8B030D-6E8A-4147-A177-3AD203B41FA5}">
                      <a16:colId xmlns:a16="http://schemas.microsoft.com/office/drawing/2014/main" val="4105978153"/>
                    </a:ext>
                  </a:extLst>
                </a:gridCol>
                <a:gridCol w="2839064">
                  <a:extLst>
                    <a:ext uri="{9D8B030D-6E8A-4147-A177-3AD203B41FA5}">
                      <a16:colId xmlns:a16="http://schemas.microsoft.com/office/drawing/2014/main" val="2157427368"/>
                    </a:ext>
                  </a:extLst>
                </a:gridCol>
                <a:gridCol w="2839064">
                  <a:extLst>
                    <a:ext uri="{9D8B030D-6E8A-4147-A177-3AD203B41FA5}">
                      <a16:colId xmlns:a16="http://schemas.microsoft.com/office/drawing/2014/main" val="3262484755"/>
                    </a:ext>
                  </a:extLst>
                </a:gridCol>
              </a:tblGrid>
              <a:tr h="1722359">
                <a:tc>
                  <a:txBody>
                    <a:bodyPr/>
                    <a:lstStyle/>
                    <a:p>
                      <a:pPr marL="0" marR="0" lvl="0" indent="0" algn="ctr" rtl="0">
                        <a:spcBef>
                          <a:spcPts val="0"/>
                        </a:spcBef>
                        <a:spcAft>
                          <a:spcPts val="0"/>
                        </a:spcAft>
                        <a:buNone/>
                      </a:pPr>
                      <a:r>
                        <a:rPr lang="en-US" sz="2800" b="0" i="0" u="none" strike="noStrike" cap="none" dirty="0">
                          <a:solidFill>
                            <a:schemeClr val="tx1"/>
                          </a:solidFill>
                          <a:latin typeface="Arial" panose="020B0604020202020204" pitchFamily="34" charset="0"/>
                          <a:cs typeface="Arial" panose="020B0604020202020204" pitchFamily="34" charset="0"/>
                        </a:rPr>
                        <a:t>Student Name</a:t>
                      </a:r>
                      <a:endParaRPr sz="2800" b="0" i="0" u="none" strike="noStrike" cap="none" dirty="0">
                        <a:solidFill>
                          <a:schemeClr val="tx1"/>
                        </a:solidFill>
                        <a:latin typeface="Arial" panose="020B0604020202020204" pitchFamily="34" charset="0"/>
                        <a:cs typeface="Arial" panose="020B0604020202020204" pitchFamily="34" charset="0"/>
                      </a:endParaRPr>
                    </a:p>
                  </a:txBody>
                  <a:tcPr marL="91450" marR="91450" marT="45725" marB="45725" anchor="ctr"/>
                </a:tc>
                <a:tc>
                  <a:txBody>
                    <a:bodyPr/>
                    <a:lstStyle/>
                    <a:p>
                      <a:pPr marL="0" marR="0" lvl="0" indent="0" algn="ctr" rtl="0">
                        <a:spcBef>
                          <a:spcPts val="0"/>
                        </a:spcBef>
                        <a:spcAft>
                          <a:spcPts val="0"/>
                        </a:spcAft>
                        <a:buNone/>
                      </a:pPr>
                      <a:r>
                        <a:rPr lang="en-US" sz="2800" b="0" i="0" u="none" strike="noStrike" cap="none" dirty="0">
                          <a:solidFill>
                            <a:schemeClr val="tx1"/>
                          </a:solidFill>
                          <a:latin typeface="Arial" panose="020B0604020202020204" pitchFamily="34" charset="0"/>
                          <a:cs typeface="Arial" panose="020B0604020202020204" pitchFamily="34" charset="0"/>
                        </a:rPr>
                        <a:t>Recent Passport Photo</a:t>
                      </a:r>
                      <a:endParaRPr sz="2800" b="0" i="0" u="none" strike="noStrike" cap="none" dirty="0">
                        <a:solidFill>
                          <a:schemeClr val="tx1"/>
                        </a:solidFill>
                        <a:latin typeface="Arial" panose="020B0604020202020204" pitchFamily="34" charset="0"/>
                        <a:cs typeface="Arial" panose="020B0604020202020204" pitchFamily="34" charset="0"/>
                      </a:endParaRPr>
                    </a:p>
                  </a:txBody>
                  <a:tcPr marL="91450" marR="91450" marT="45725" marB="45725" anchor="ctr"/>
                </a:tc>
                <a:tc>
                  <a:txBody>
                    <a:bodyPr/>
                    <a:lstStyle/>
                    <a:p>
                      <a:pPr marL="0" marR="0" lvl="0" indent="0" algn="ctr" rtl="0">
                        <a:lnSpc>
                          <a:spcPct val="100000"/>
                        </a:lnSpc>
                        <a:spcBef>
                          <a:spcPts val="0"/>
                        </a:spcBef>
                        <a:spcAft>
                          <a:spcPts val="0"/>
                        </a:spcAft>
                        <a:buClr>
                          <a:srgbClr val="000000"/>
                        </a:buClr>
                        <a:buSzPts val="1800"/>
                        <a:buFont typeface="Arial"/>
                        <a:buNone/>
                      </a:pPr>
                      <a:r>
                        <a:rPr lang="en-US" sz="2800" b="0" i="0" u="none" strike="noStrike" cap="none" dirty="0">
                          <a:solidFill>
                            <a:srgbClr val="000000"/>
                          </a:solidFill>
                          <a:latin typeface="Arial"/>
                          <a:ea typeface="Calibri"/>
                          <a:cs typeface="Arial"/>
                          <a:sym typeface="Calibri"/>
                        </a:rPr>
                        <a:t>Email ID </a:t>
                      </a:r>
                      <a:endParaRPr sz="2800" b="0" i="0" u="none" strike="noStrike" cap="none" dirty="0">
                        <a:solidFill>
                          <a:srgbClr val="000000"/>
                        </a:solidFill>
                        <a:latin typeface="Arial"/>
                        <a:cs typeface="Arial"/>
                        <a:sym typeface="Arial"/>
                      </a:endParaRPr>
                    </a:p>
                  </a:txBody>
                  <a:tcPr marL="91450" marR="91450" marT="45725" marB="45725" anchor="ctr"/>
                </a:tc>
                <a:tc>
                  <a:txBody>
                    <a:bodyPr/>
                    <a:lstStyle/>
                    <a:p>
                      <a:pPr marL="0" marR="0" lvl="0" indent="0" algn="ctr" rtl="0">
                        <a:lnSpc>
                          <a:spcPct val="100000"/>
                        </a:lnSpc>
                        <a:spcBef>
                          <a:spcPts val="0"/>
                        </a:spcBef>
                        <a:spcAft>
                          <a:spcPts val="0"/>
                        </a:spcAft>
                        <a:buClr>
                          <a:schemeClr val="lt1"/>
                        </a:buClr>
                        <a:buSzPts val="1800"/>
                        <a:buFont typeface="Calibri"/>
                        <a:buNone/>
                      </a:pPr>
                      <a:r>
                        <a:rPr lang="en-US" sz="2800" b="0" i="0" u="none" strike="noStrike" cap="none" dirty="0">
                          <a:solidFill>
                            <a:srgbClr val="000000"/>
                          </a:solidFill>
                          <a:latin typeface="Arial"/>
                          <a:ea typeface="Calibri"/>
                          <a:cs typeface="Arial"/>
                          <a:sym typeface="Calibri"/>
                        </a:rPr>
                        <a:t>Mobile number</a:t>
                      </a:r>
                      <a:endParaRPr sz="2800" b="0" i="0" u="none" strike="noStrike" cap="none" dirty="0">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2800" b="0" i="0" u="none" strike="noStrike" cap="none" dirty="0">
                          <a:solidFill>
                            <a:srgbClr val="000000"/>
                          </a:solidFill>
                          <a:latin typeface="Arial"/>
                          <a:ea typeface="Calibri"/>
                          <a:cs typeface="Arial"/>
                          <a:sym typeface="Calibri"/>
                        </a:rPr>
                        <a:t>[WhatsApp] </a:t>
                      </a:r>
                      <a:endParaRPr sz="2800" b="0" i="0" u="none" strike="noStrike" cap="none" dirty="0">
                        <a:solidFill>
                          <a:srgbClr val="000000"/>
                        </a:solidFill>
                        <a:latin typeface="Arial"/>
                        <a:cs typeface="Arial"/>
                        <a:sym typeface="Arial"/>
                      </a:endParaRPr>
                    </a:p>
                  </a:txBody>
                  <a:tcPr marL="91450" marR="91450" marT="45725" marB="45725" anchor="ctr"/>
                </a:tc>
                <a:extLst>
                  <a:ext uri="{0D108BD9-81ED-4DB2-BD59-A6C34878D82A}">
                    <a16:rowId xmlns:a16="http://schemas.microsoft.com/office/drawing/2014/main" val="344790142"/>
                  </a:ext>
                </a:extLst>
              </a:tr>
              <a:tr h="1512454">
                <a:tc>
                  <a:txBody>
                    <a:bodyPr/>
                    <a:lstStyle/>
                    <a:p>
                      <a:r>
                        <a:rPr lang="en-IN" sz="2000" dirty="0">
                          <a:latin typeface="Arial" panose="020B0604020202020204" pitchFamily="34" charset="0"/>
                          <a:cs typeface="Arial" panose="020B0604020202020204" pitchFamily="34" charset="0"/>
                        </a:rPr>
                        <a:t>Swara Dinesh Thorat</a:t>
                      </a:r>
                    </a:p>
                  </a:txBody>
                  <a:tcPr/>
                </a:tc>
                <a:tc>
                  <a:txBody>
                    <a:bodyPr/>
                    <a:lstStyle/>
                    <a:p>
                      <a:endParaRPr lang="en-IN" dirty="0"/>
                    </a:p>
                  </a:txBody>
                  <a:tcPr/>
                </a:tc>
                <a:tc>
                  <a:txBody>
                    <a:bodyPr/>
                    <a:lstStyle/>
                    <a:p>
                      <a:r>
                        <a:rPr lang="en-IN" sz="2000" dirty="0">
                          <a:latin typeface="Arial" panose="020B0604020202020204" pitchFamily="34" charset="0"/>
                          <a:cs typeface="Arial" panose="020B0604020202020204" pitchFamily="34" charset="0"/>
                        </a:rPr>
                        <a:t>swarathorat21@gmail.com</a:t>
                      </a:r>
                    </a:p>
                  </a:txBody>
                  <a:tcPr/>
                </a:tc>
                <a:tc>
                  <a:txBody>
                    <a:bodyPr/>
                    <a:lstStyle/>
                    <a:p>
                      <a:r>
                        <a:rPr lang="en-IN" sz="2000" dirty="0">
                          <a:latin typeface="Arial" panose="020B0604020202020204" pitchFamily="34" charset="0"/>
                          <a:cs typeface="Arial" panose="020B0604020202020204" pitchFamily="34" charset="0"/>
                        </a:rPr>
                        <a:t>7499439036</a:t>
                      </a:r>
                    </a:p>
                  </a:txBody>
                  <a:tcPr/>
                </a:tc>
                <a:extLst>
                  <a:ext uri="{0D108BD9-81ED-4DB2-BD59-A6C34878D82A}">
                    <a16:rowId xmlns:a16="http://schemas.microsoft.com/office/drawing/2014/main" val="2468285288"/>
                  </a:ext>
                </a:extLst>
              </a:tr>
            </a:tbl>
          </a:graphicData>
        </a:graphic>
      </p:graphicFrame>
    </p:spTree>
    <p:extLst>
      <p:ext uri="{BB962C8B-B14F-4D97-AF65-F5344CB8AC3E}">
        <p14:creationId xmlns:p14="http://schemas.microsoft.com/office/powerpoint/2010/main" val="8757853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D6AB3E-EB82-36D5-1BAE-E647476E0552}"/>
              </a:ext>
            </a:extLst>
          </p:cNvPr>
          <p:cNvSpPr>
            <a:spLocks noGrp="1"/>
          </p:cNvSpPr>
          <p:nvPr>
            <p:ph type="title"/>
          </p:nvPr>
        </p:nvSpPr>
        <p:spPr>
          <a:xfrm>
            <a:off x="353961" y="365126"/>
            <a:ext cx="10999839" cy="883572"/>
          </a:xfrm>
        </p:spPr>
        <p:txBody>
          <a:bodyPr>
            <a:normAutofit/>
          </a:bodyPr>
          <a:lstStyle/>
          <a:p>
            <a:r>
              <a:rPr lang="en-IN" sz="2800" b="1" u="sng" dirty="0">
                <a:latin typeface="Arial" panose="020B0604020202020204" pitchFamily="34" charset="0"/>
                <a:cs typeface="Arial" panose="020B0604020202020204" pitchFamily="34" charset="0"/>
              </a:rPr>
              <a:t>Problem Statement:</a:t>
            </a:r>
          </a:p>
        </p:txBody>
      </p:sp>
      <p:sp>
        <p:nvSpPr>
          <p:cNvPr id="3" name="Content Placeholder 2">
            <a:extLst>
              <a:ext uri="{FF2B5EF4-FFF2-40B4-BE49-F238E27FC236}">
                <a16:creationId xmlns:a16="http://schemas.microsoft.com/office/drawing/2014/main" id="{743A84AC-6762-1085-E23F-165FB584259C}"/>
              </a:ext>
            </a:extLst>
          </p:cNvPr>
          <p:cNvSpPr>
            <a:spLocks noGrp="1"/>
          </p:cNvSpPr>
          <p:nvPr>
            <p:ph idx="1"/>
          </p:nvPr>
        </p:nvSpPr>
        <p:spPr>
          <a:xfrm>
            <a:off x="353961" y="1415845"/>
            <a:ext cx="11474245" cy="5329084"/>
          </a:xfrm>
        </p:spPr>
        <p:txBody>
          <a:bodyPr>
            <a:noAutofit/>
          </a:bodyPr>
          <a:lstStyle/>
          <a:p>
            <a:r>
              <a:rPr lang="en-IN" sz="2000" b="1" dirty="0">
                <a:latin typeface="Arial" panose="020B0604020202020204" pitchFamily="34" charset="0"/>
                <a:cs typeface="Arial" panose="020B0604020202020204" pitchFamily="34" charset="0"/>
              </a:rPr>
              <a:t>The Challenge</a:t>
            </a:r>
          </a:p>
          <a:p>
            <a:pPr marL="0" indent="0">
              <a:buNone/>
            </a:pPr>
            <a:r>
              <a:rPr lang="en-IN" sz="2000" dirty="0">
                <a:latin typeface="Arial" panose="020B0604020202020204" pitchFamily="34" charset="0"/>
                <a:cs typeface="Arial" panose="020B0604020202020204" pitchFamily="34" charset="0"/>
              </a:rPr>
              <a:t>Mental health issues such as stress, anxiety, depression, and suicidal thoughts are increasing, especially among students and working professionals. Many people hesitate to seek help because of stigma, lack of awareness, or limited access to mental health services. As a result, emotional distress often goes unnoticed until it becomes severe.</a:t>
            </a:r>
          </a:p>
          <a:p>
            <a:r>
              <a:rPr lang="en-IN" sz="2000" b="1" dirty="0">
                <a:latin typeface="Arial" panose="020B0604020202020204" pitchFamily="34" charset="0"/>
                <a:cs typeface="Arial" panose="020B0604020202020204" pitchFamily="34" charset="0"/>
              </a:rPr>
              <a:t>The Objective</a:t>
            </a:r>
          </a:p>
          <a:p>
            <a:pPr marL="0" indent="0">
              <a:buNone/>
            </a:pPr>
            <a:r>
              <a:rPr lang="en-IN" sz="2000" dirty="0">
                <a:latin typeface="Arial" panose="020B0604020202020204" pitchFamily="34" charset="0"/>
                <a:cs typeface="Arial" panose="020B0604020202020204" pitchFamily="34" charset="0"/>
              </a:rPr>
              <a:t>Develop an AI-powered Mental Health Awareness &amp; Suicide Prevention Agent that provides personalized emotional support, spreads mental health awareness, identifies early signs of emotional distress, and guides users to trusted mental health resources.</a:t>
            </a:r>
          </a:p>
          <a:p>
            <a:pPr marL="0" indent="0">
              <a:buNone/>
            </a:pPr>
            <a:r>
              <a:rPr lang="en-IN" sz="2000" b="1" dirty="0">
                <a:latin typeface="Arial" panose="020B0604020202020204" pitchFamily="34" charset="0"/>
                <a:cs typeface="Arial" panose="020B0604020202020204" pitchFamily="34" charset="0"/>
              </a:rPr>
              <a:t>The solution should include:</a:t>
            </a:r>
          </a:p>
          <a:p>
            <a:pPr marL="457200" indent="-457200">
              <a:buFont typeface="+mj-lt"/>
              <a:buAutoNum type="arabicPeriod"/>
            </a:pPr>
            <a:r>
              <a:rPr lang="en-IN" sz="2000" dirty="0">
                <a:latin typeface="Arial" panose="020B0604020202020204" pitchFamily="34" charset="0"/>
                <a:cs typeface="Arial" panose="020B0604020202020204" pitchFamily="34" charset="0"/>
              </a:rPr>
              <a:t>Mental Health Awareness &amp; Education </a:t>
            </a:r>
          </a:p>
          <a:p>
            <a:pPr marL="457200" indent="-457200">
              <a:buFont typeface="+mj-lt"/>
              <a:buAutoNum type="arabicPeriod"/>
            </a:pPr>
            <a:r>
              <a:rPr lang="en-IN" sz="2000" dirty="0">
                <a:latin typeface="Arial" panose="020B0604020202020204" pitchFamily="34" charset="0"/>
                <a:cs typeface="Arial" panose="020B0604020202020204" pitchFamily="34" charset="0"/>
              </a:rPr>
              <a:t>Mood Assessment and Emotional Check-ins </a:t>
            </a:r>
          </a:p>
          <a:p>
            <a:pPr marL="457200" indent="-457200">
              <a:buFont typeface="+mj-lt"/>
              <a:buAutoNum type="arabicPeriod"/>
            </a:pPr>
            <a:r>
              <a:rPr lang="en-IN" sz="2000" dirty="0">
                <a:latin typeface="Arial" panose="020B0604020202020204" pitchFamily="34" charset="0"/>
                <a:cs typeface="Arial" panose="020B0604020202020204" pitchFamily="34" charset="0"/>
              </a:rPr>
              <a:t>Personalized Self-Care Recommendations </a:t>
            </a:r>
          </a:p>
          <a:p>
            <a:pPr marL="457200" indent="-457200">
              <a:buFont typeface="+mj-lt"/>
              <a:buAutoNum type="arabicPeriod"/>
            </a:pPr>
            <a:r>
              <a:rPr lang="en-IN" sz="2000" dirty="0">
                <a:latin typeface="Arial" panose="020B0604020202020204" pitchFamily="34" charset="0"/>
                <a:cs typeface="Arial" panose="020B0604020202020204" pitchFamily="34" charset="0"/>
              </a:rPr>
              <a:t>Early Risk Detection </a:t>
            </a:r>
          </a:p>
          <a:p>
            <a:pPr marL="457200" indent="-457200">
              <a:buFont typeface="+mj-lt"/>
              <a:buAutoNum type="arabicPeriod"/>
            </a:pPr>
            <a:r>
              <a:rPr lang="en-IN" sz="2000" dirty="0">
                <a:latin typeface="Arial" panose="020B0604020202020204" pitchFamily="34" charset="0"/>
                <a:cs typeface="Arial" panose="020B0604020202020204" pitchFamily="34" charset="0"/>
              </a:rPr>
              <a:t>Mental Health Resource Recommendation </a:t>
            </a:r>
          </a:p>
        </p:txBody>
      </p:sp>
    </p:spTree>
    <p:extLst>
      <p:ext uri="{BB962C8B-B14F-4D97-AF65-F5344CB8AC3E}">
        <p14:creationId xmlns:p14="http://schemas.microsoft.com/office/powerpoint/2010/main" val="35501113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68B17A-7064-D279-C898-4E64688283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5C0CEE-1125-1504-DCF7-3FEFE95D490F}"/>
              </a:ext>
            </a:extLst>
          </p:cNvPr>
          <p:cNvSpPr>
            <a:spLocks noGrp="1"/>
          </p:cNvSpPr>
          <p:nvPr>
            <p:ph type="title"/>
          </p:nvPr>
        </p:nvSpPr>
        <p:spPr>
          <a:xfrm>
            <a:off x="363794" y="365126"/>
            <a:ext cx="10990006" cy="1060552"/>
          </a:xfrm>
        </p:spPr>
        <p:txBody>
          <a:bodyPr>
            <a:normAutofit/>
          </a:bodyPr>
          <a:lstStyle/>
          <a:p>
            <a:r>
              <a:rPr lang="en-IN" sz="2800" b="1" u="sng" dirty="0">
                <a:latin typeface="Arial" panose="020B0604020202020204" pitchFamily="34" charset="0"/>
                <a:cs typeface="Arial" panose="020B0604020202020204" pitchFamily="34" charset="0"/>
              </a:rPr>
              <a:t>Proposed Solution:</a:t>
            </a:r>
          </a:p>
        </p:txBody>
      </p:sp>
      <p:sp>
        <p:nvSpPr>
          <p:cNvPr id="3" name="Content Placeholder 2">
            <a:extLst>
              <a:ext uri="{FF2B5EF4-FFF2-40B4-BE49-F238E27FC236}">
                <a16:creationId xmlns:a16="http://schemas.microsoft.com/office/drawing/2014/main" id="{5111861C-CB6E-CE6F-68E9-D3F84795F32B}"/>
              </a:ext>
            </a:extLst>
          </p:cNvPr>
          <p:cNvSpPr>
            <a:spLocks noGrp="1"/>
          </p:cNvSpPr>
          <p:nvPr>
            <p:ph idx="1"/>
          </p:nvPr>
        </p:nvSpPr>
        <p:spPr>
          <a:xfrm>
            <a:off x="432620" y="1653098"/>
            <a:ext cx="10990006" cy="4839776"/>
          </a:xfrm>
        </p:spPr>
        <p:txBody>
          <a:bodyPr>
            <a:noAutofit/>
          </a:bodyPr>
          <a:lstStyle/>
          <a:p>
            <a:pPr marL="0" indent="0">
              <a:buNone/>
            </a:pPr>
            <a:r>
              <a:rPr lang="en-IN" sz="2000" dirty="0">
                <a:latin typeface="Arial" panose="020B0604020202020204" pitchFamily="34" charset="0"/>
                <a:cs typeface="Arial" panose="020B0604020202020204" pitchFamily="34" charset="0"/>
              </a:rPr>
              <a:t>The proposed solution is an AI-powered multi-agent Mental Health Awareness &amp; Suicide Prevention system built using IBM watsonx.ai, IBM Granite Models, </a:t>
            </a:r>
            <a:r>
              <a:rPr lang="en-IN" sz="2000" dirty="0" err="1">
                <a:latin typeface="Arial" panose="020B0604020202020204" pitchFamily="34" charset="0"/>
                <a:cs typeface="Arial" panose="020B0604020202020204" pitchFamily="34" charset="0"/>
              </a:rPr>
              <a:t>LangFlow</a:t>
            </a:r>
            <a:r>
              <a:rPr lang="en-IN" sz="2000" dirty="0">
                <a:latin typeface="Arial" panose="020B0604020202020204" pitchFamily="34" charset="0"/>
                <a:cs typeface="Arial" panose="020B0604020202020204" pitchFamily="34" charset="0"/>
              </a:rPr>
              <a:t>, IBM Cloud, and Retrieval-Augmented Generation (RAG).</a:t>
            </a:r>
          </a:p>
          <a:p>
            <a:pPr marL="0" indent="0">
              <a:buNone/>
            </a:pPr>
            <a:r>
              <a:rPr lang="en-IN" sz="2000" dirty="0">
                <a:latin typeface="Arial" panose="020B0604020202020204" pitchFamily="34" charset="0"/>
                <a:cs typeface="Arial" panose="020B0604020202020204" pitchFamily="34" charset="0"/>
              </a:rPr>
              <a:t>The system provides empathetic conversations, mental health education, mood analysis, personalized wellness plans, and crisis guidance.</a:t>
            </a:r>
          </a:p>
          <a:p>
            <a:pPr marL="0" indent="0">
              <a:buNone/>
            </a:pPr>
            <a:r>
              <a:rPr lang="en-IN" sz="2000" dirty="0">
                <a:latin typeface="Arial" panose="020B0604020202020204" pitchFamily="34" charset="0"/>
                <a:cs typeface="Arial" panose="020B0604020202020204" pitchFamily="34" charset="0"/>
              </a:rPr>
              <a:t>A RAG pipeline retrieves verified information from trusted organizations such as WHO, government health agencies, and mental health organizations to ensure reliable responses.</a:t>
            </a:r>
            <a:endParaRPr lang="en-IN" sz="2000" b="1" dirty="0">
              <a:latin typeface="Arial" panose="020B0604020202020204" pitchFamily="34" charset="0"/>
              <a:cs typeface="Arial" panose="020B0604020202020204" pitchFamily="34" charset="0"/>
            </a:endParaRPr>
          </a:p>
          <a:p>
            <a:pPr marL="0" indent="0">
              <a:buNone/>
            </a:pPr>
            <a:r>
              <a:rPr lang="en-IN" sz="2000" b="1" dirty="0">
                <a:latin typeface="Arial" panose="020B0604020202020204" pitchFamily="34" charset="0"/>
                <a:cs typeface="Arial" panose="020B0604020202020204" pitchFamily="34" charset="0"/>
              </a:rPr>
              <a:t>The system consists of four intelligent agents:</a:t>
            </a:r>
          </a:p>
          <a:p>
            <a:r>
              <a:rPr lang="en-IN" sz="2000" dirty="0">
                <a:latin typeface="Arial" panose="020B0604020202020204" pitchFamily="34" charset="0"/>
                <a:cs typeface="Arial" panose="020B0604020202020204" pitchFamily="34" charset="0"/>
              </a:rPr>
              <a:t>Mental Health Knowledge Agent </a:t>
            </a:r>
          </a:p>
          <a:p>
            <a:r>
              <a:rPr lang="en-IN" sz="2000" dirty="0">
                <a:latin typeface="Arial" panose="020B0604020202020204" pitchFamily="34" charset="0"/>
                <a:cs typeface="Arial" panose="020B0604020202020204" pitchFamily="34" charset="0"/>
              </a:rPr>
              <a:t>Mood Analysis Agent </a:t>
            </a:r>
          </a:p>
          <a:p>
            <a:r>
              <a:rPr lang="en-IN" sz="2000" dirty="0">
                <a:latin typeface="Arial" panose="020B0604020202020204" pitchFamily="34" charset="0"/>
                <a:cs typeface="Arial" panose="020B0604020202020204" pitchFamily="34" charset="0"/>
              </a:rPr>
              <a:t>Wellness Recommendation Agent </a:t>
            </a:r>
          </a:p>
          <a:p>
            <a:r>
              <a:rPr lang="en-IN" sz="2000" dirty="0">
                <a:latin typeface="Arial" panose="020B0604020202020204" pitchFamily="34" charset="0"/>
                <a:cs typeface="Arial" panose="020B0604020202020204" pitchFamily="34" charset="0"/>
              </a:rPr>
              <a:t>Crisis Support Agent </a:t>
            </a:r>
          </a:p>
          <a:p>
            <a:pPr marL="0" indent="0">
              <a:buNone/>
            </a:pPr>
            <a:endParaRPr lang="en-IN"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214518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FC287F-4DD2-7417-0520-103E07BB5E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C34DAF-984B-7B9B-6306-5097026DF294}"/>
              </a:ext>
            </a:extLst>
          </p:cNvPr>
          <p:cNvSpPr>
            <a:spLocks noGrp="1"/>
          </p:cNvSpPr>
          <p:nvPr>
            <p:ph type="title"/>
          </p:nvPr>
        </p:nvSpPr>
        <p:spPr>
          <a:xfrm>
            <a:off x="838200" y="187037"/>
            <a:ext cx="10515600" cy="1503652"/>
          </a:xfrm>
        </p:spPr>
        <p:txBody>
          <a:bodyPr>
            <a:normAutofit/>
          </a:bodyPr>
          <a:lstStyle/>
          <a:p>
            <a:r>
              <a:rPr lang="en-IN" sz="2800" b="1" u="sng" dirty="0">
                <a:latin typeface="Arial" panose="020B0604020202020204" pitchFamily="34" charset="0"/>
                <a:cs typeface="Arial" panose="020B0604020202020204" pitchFamily="34" charset="0"/>
              </a:rPr>
              <a:t>Technology Used:</a:t>
            </a:r>
          </a:p>
        </p:txBody>
      </p:sp>
      <p:sp>
        <p:nvSpPr>
          <p:cNvPr id="3" name="Content Placeholder 2">
            <a:extLst>
              <a:ext uri="{FF2B5EF4-FFF2-40B4-BE49-F238E27FC236}">
                <a16:creationId xmlns:a16="http://schemas.microsoft.com/office/drawing/2014/main" id="{F9F1AEBD-335B-2ADD-2997-6C7345F85E3C}"/>
              </a:ext>
            </a:extLst>
          </p:cNvPr>
          <p:cNvSpPr>
            <a:spLocks noGrp="1"/>
          </p:cNvSpPr>
          <p:nvPr>
            <p:ph idx="1"/>
          </p:nvPr>
        </p:nvSpPr>
        <p:spPr>
          <a:xfrm>
            <a:off x="838200" y="1350818"/>
            <a:ext cx="10515600" cy="4826145"/>
          </a:xfrm>
        </p:spPr>
        <p:txBody>
          <a:bodyPr>
            <a:noAutofit/>
          </a:bodyPr>
          <a:lstStyle/>
          <a:p>
            <a:pPr marL="0" indent="0">
              <a:buNone/>
            </a:pPr>
            <a:endParaRPr lang="en-US" sz="2000" dirty="0">
              <a:latin typeface="Arial" panose="020B0604020202020204" pitchFamily="34" charset="0"/>
              <a:cs typeface="Arial" panose="020B0604020202020204" pitchFamily="34" charset="0"/>
            </a:endParaRPr>
          </a:p>
          <a:p>
            <a:pPr marL="285750" indent="-285750"/>
            <a:r>
              <a:rPr lang="en-US" sz="2000" b="1" dirty="0">
                <a:latin typeface="Arial" panose="020B0604020202020204" pitchFamily="34" charset="0"/>
                <a:cs typeface="Arial" panose="020B0604020202020204" pitchFamily="34" charset="0"/>
              </a:rPr>
              <a:t>IBM Granite model </a:t>
            </a:r>
            <a:r>
              <a:rPr lang="en-US" sz="2000" dirty="0">
                <a:latin typeface="Arial" panose="020B0604020202020204" pitchFamily="34" charset="0"/>
                <a:cs typeface="Arial" panose="020B0604020202020204" pitchFamily="34" charset="0"/>
              </a:rPr>
              <a:t>-  for </a:t>
            </a:r>
            <a:r>
              <a:rPr lang="en-US" sz="2000" dirty="0" err="1">
                <a:latin typeface="Arial" panose="020B0604020202020204" pitchFamily="34" charset="0"/>
                <a:cs typeface="Arial" panose="020B0604020202020204" pitchFamily="34" charset="0"/>
              </a:rPr>
              <a:t>eg</a:t>
            </a:r>
            <a:r>
              <a:rPr lang="en-US" sz="2000" dirty="0">
                <a:latin typeface="Arial" panose="020B0604020202020204" pitchFamily="34" charset="0"/>
                <a:cs typeface="Arial" panose="020B0604020202020204" pitchFamily="34" charset="0"/>
              </a:rPr>
              <a:t> – ibm-granite-3-2-8b – For natural language understanding, reasoning, and personalization</a:t>
            </a:r>
          </a:p>
          <a:p>
            <a:pPr marL="285750" indent="-285750"/>
            <a:endParaRPr lang="en-US" sz="2000" dirty="0">
              <a:latin typeface="Arial" panose="020B0604020202020204" pitchFamily="34" charset="0"/>
              <a:cs typeface="Arial" panose="020B0604020202020204" pitchFamily="34" charset="0"/>
            </a:endParaRPr>
          </a:p>
          <a:p>
            <a:pPr marL="285750" indent="-285750"/>
            <a:r>
              <a:rPr lang="en-US" sz="2000" b="1" dirty="0">
                <a:latin typeface="Arial" panose="020B0604020202020204" pitchFamily="34" charset="0"/>
                <a:cs typeface="Arial" panose="020B0604020202020204" pitchFamily="34" charset="0"/>
              </a:rPr>
              <a:t>IBM Cloud </a:t>
            </a:r>
            <a:r>
              <a:rPr lang="en-US" sz="2000" dirty="0">
                <a:latin typeface="Arial" panose="020B0604020202020204" pitchFamily="34" charset="0"/>
                <a:cs typeface="Arial" panose="020B0604020202020204" pitchFamily="34" charset="0"/>
              </a:rPr>
              <a:t>– It provides the infrastructure to build, deploy, and scale the Nutrition Agent efficiently. IBM Cloud enables a reliable, secure, and scalable environment for deploying the Nutrition Agent.</a:t>
            </a:r>
          </a:p>
          <a:p>
            <a:pPr marL="0" indent="0">
              <a:buNone/>
            </a:pPr>
            <a:endParaRPr lang="en-US" sz="2000" dirty="0">
              <a:latin typeface="Arial" panose="020B0604020202020204" pitchFamily="34" charset="0"/>
              <a:cs typeface="Arial" panose="020B0604020202020204" pitchFamily="34" charset="0"/>
            </a:endParaRPr>
          </a:p>
          <a:p>
            <a:pPr marL="285750" indent="-285750"/>
            <a:r>
              <a:rPr lang="en-US" sz="2000" b="1" dirty="0">
                <a:latin typeface="Arial" panose="020B0604020202020204" pitchFamily="34" charset="0"/>
                <a:cs typeface="Arial" panose="020B0604020202020204" pitchFamily="34" charset="0"/>
              </a:rPr>
              <a:t>IBM Watsonx.ai </a:t>
            </a:r>
            <a:r>
              <a:rPr lang="en-US" sz="2000" dirty="0">
                <a:latin typeface="Arial" panose="020B0604020202020204" pitchFamily="34" charset="0"/>
                <a:cs typeface="Arial" panose="020B0604020202020204" pitchFamily="34" charset="0"/>
              </a:rPr>
              <a:t>- For model deployment, embeddings, and AI governance</a:t>
            </a:r>
          </a:p>
          <a:p>
            <a:pPr marL="285750" indent="-285750"/>
            <a:endParaRPr lang="en-US" sz="2000" dirty="0">
              <a:latin typeface="Arial" panose="020B0604020202020204" pitchFamily="34" charset="0"/>
              <a:cs typeface="Arial" panose="020B0604020202020204" pitchFamily="34" charset="0"/>
            </a:endParaRPr>
          </a:p>
          <a:p>
            <a:pPr marL="285750" indent="-285750"/>
            <a:r>
              <a:rPr lang="en-IN" sz="2000" b="1" dirty="0"/>
              <a:t>Vector Database</a:t>
            </a:r>
            <a:r>
              <a:rPr lang="en-IN" sz="2000" dirty="0"/>
              <a:t> – For RAG-based data retrieval</a:t>
            </a:r>
            <a:endParaRPr lang="en-US" sz="2000" dirty="0"/>
          </a:p>
          <a:p>
            <a:pPr marL="285750" indent="-285750"/>
            <a:endParaRPr lang="en-US" sz="2000" dirty="0">
              <a:latin typeface="Arial" panose="020B0604020202020204" pitchFamily="34" charset="0"/>
              <a:cs typeface="Arial" panose="020B0604020202020204" pitchFamily="34" charset="0"/>
            </a:endParaRPr>
          </a:p>
          <a:p>
            <a:pPr marL="285750" indent="-285750"/>
            <a:endParaRPr lang="en-US" sz="2000" dirty="0">
              <a:latin typeface="Arial" panose="020B0604020202020204" pitchFamily="34" charset="0"/>
              <a:cs typeface="Arial" panose="020B0604020202020204" pitchFamily="34" charset="0"/>
            </a:endParaRPr>
          </a:p>
          <a:p>
            <a:endParaRPr lang="en-US" sz="2000" dirty="0">
              <a:latin typeface="Arial" panose="020B0604020202020204" pitchFamily="34" charset="0"/>
              <a:cs typeface="Arial" panose="020B0604020202020204" pitchFamily="34" charset="0"/>
            </a:endParaRPr>
          </a:p>
          <a:p>
            <a:endParaRPr lang="en-IN" sz="2000" dirty="0">
              <a:latin typeface="Arial" panose="020B0604020202020204" pitchFamily="34" charset="0"/>
              <a:cs typeface="Arial" panose="020B0604020202020204" pitchFamily="34" charset="0"/>
            </a:endParaRPr>
          </a:p>
          <a:p>
            <a:endParaRPr lang="en-IN"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721702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7B3FBB-5869-ABBE-35AD-80734E4BE66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5C6B2B-AC8B-52A2-245E-0F6EAE0EAF9C}"/>
              </a:ext>
            </a:extLst>
          </p:cNvPr>
          <p:cNvSpPr>
            <a:spLocks noGrp="1"/>
          </p:cNvSpPr>
          <p:nvPr>
            <p:ph type="title"/>
          </p:nvPr>
        </p:nvSpPr>
        <p:spPr>
          <a:xfrm>
            <a:off x="609600" y="365125"/>
            <a:ext cx="10744200" cy="1325563"/>
          </a:xfrm>
        </p:spPr>
        <p:txBody>
          <a:bodyPr>
            <a:normAutofit/>
          </a:bodyPr>
          <a:lstStyle/>
          <a:p>
            <a:r>
              <a:rPr lang="en-US" sz="2800" b="1" u="sng" dirty="0">
                <a:latin typeface="Arial" panose="020B0604020202020204" pitchFamily="34" charset="0"/>
                <a:cs typeface="Arial" panose="020B0604020202020204" pitchFamily="34" charset="0"/>
                <a:sym typeface="Times New Roman"/>
              </a:rPr>
              <a:t>Orchestrate component Used:</a:t>
            </a:r>
            <a:br>
              <a:rPr lang="en-US" sz="2800" b="1" u="sng" dirty="0">
                <a:latin typeface="Arial" panose="020B0604020202020204" pitchFamily="34" charset="0"/>
                <a:cs typeface="Arial" panose="020B0604020202020204" pitchFamily="34" charset="0"/>
                <a:sym typeface="Times New Roman"/>
              </a:rPr>
            </a:br>
            <a:endParaRPr lang="en-IN" sz="2800" b="1" u="sng"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4320EE93-00B9-1908-584E-465E15A0855A}"/>
              </a:ext>
            </a:extLst>
          </p:cNvPr>
          <p:cNvSpPr>
            <a:spLocks noGrp="1"/>
          </p:cNvSpPr>
          <p:nvPr>
            <p:ph idx="1"/>
          </p:nvPr>
        </p:nvSpPr>
        <p:spPr>
          <a:xfrm>
            <a:off x="609600" y="1465006"/>
            <a:ext cx="10744200" cy="4711957"/>
          </a:xfrm>
        </p:spPr>
        <p:txBody>
          <a:bodyPr>
            <a:normAutofit/>
          </a:bodyPr>
          <a:lstStyle/>
          <a:p>
            <a:r>
              <a:rPr lang="en-US" sz="2000" b="1" dirty="0">
                <a:latin typeface="Arial" panose="020B0604020202020204" pitchFamily="34" charset="0"/>
                <a:cs typeface="Arial" panose="020B0604020202020204" pitchFamily="34" charset="0"/>
              </a:rPr>
              <a:t>1) Chat Input </a:t>
            </a:r>
            <a:r>
              <a:rPr lang="en-US" sz="2000" dirty="0">
                <a:latin typeface="Arial" panose="020B0604020202020204" pitchFamily="34" charset="0"/>
                <a:cs typeface="Arial" panose="020B0604020202020204" pitchFamily="34" charset="0"/>
              </a:rPr>
              <a:t>– Interface where users enter their queries, preferences, or meal details (text/voice/image).</a:t>
            </a:r>
          </a:p>
          <a:p>
            <a:endParaRPr lang="en-US" sz="2000" dirty="0">
              <a:latin typeface="Arial" panose="020B0604020202020204" pitchFamily="34" charset="0"/>
              <a:cs typeface="Arial" panose="020B0604020202020204" pitchFamily="34" charset="0"/>
            </a:endParaRPr>
          </a:p>
          <a:p>
            <a:r>
              <a:rPr lang="en-US" sz="2000" b="1" dirty="0">
                <a:latin typeface="Arial" panose="020B0604020202020204" pitchFamily="34" charset="0"/>
                <a:cs typeface="Arial" panose="020B0604020202020204" pitchFamily="34" charset="0"/>
              </a:rPr>
              <a:t>2) IBM </a:t>
            </a:r>
            <a:r>
              <a:rPr lang="en-US" sz="2000" b="1" dirty="0" err="1">
                <a:latin typeface="Arial" panose="020B0604020202020204" pitchFamily="34" charset="0"/>
                <a:cs typeface="Arial" panose="020B0604020202020204" pitchFamily="34" charset="0"/>
              </a:rPr>
              <a:t>watsonx</a:t>
            </a:r>
            <a:r>
              <a:rPr lang="en-US" sz="2000" b="1" dirty="0">
                <a:latin typeface="Arial" panose="020B0604020202020204" pitchFamily="34" charset="0"/>
                <a:cs typeface="Arial" panose="020B0604020202020204" pitchFamily="34" charset="0"/>
              </a:rPr>
              <a:t> AI Agent </a:t>
            </a:r>
            <a:r>
              <a:rPr lang="en-US" sz="2000" dirty="0">
                <a:latin typeface="Arial" panose="020B0604020202020204" pitchFamily="34" charset="0"/>
                <a:cs typeface="Arial" panose="020B0604020202020204" pitchFamily="34" charset="0"/>
              </a:rPr>
              <a:t>- Processes user input using Granite models to generate personalized nutrition insights and recommendations. </a:t>
            </a:r>
          </a:p>
          <a:p>
            <a:endParaRPr lang="en-US" sz="2000" dirty="0">
              <a:latin typeface="Arial" panose="020B0604020202020204" pitchFamily="34" charset="0"/>
              <a:cs typeface="Arial" panose="020B0604020202020204" pitchFamily="34" charset="0"/>
            </a:endParaRPr>
          </a:p>
          <a:p>
            <a:r>
              <a:rPr lang="en-US" sz="2000" b="1" dirty="0">
                <a:latin typeface="Arial" panose="020B0604020202020204" pitchFamily="34" charset="0"/>
                <a:cs typeface="Arial" panose="020B0604020202020204" pitchFamily="34" charset="0"/>
              </a:rPr>
              <a:t>3) Name of IBM Granite model - </a:t>
            </a:r>
            <a:r>
              <a:rPr lang="en-US" sz="2000" dirty="0">
                <a:latin typeface="Arial" panose="020B0604020202020204" pitchFamily="34" charset="0"/>
                <a:cs typeface="Arial" panose="020B0604020202020204" pitchFamily="34" charset="0"/>
              </a:rPr>
              <a:t>Granite-4.0-8B-Instruct → Fast, efficient for real-time diet recommendations</a:t>
            </a:r>
          </a:p>
          <a:p>
            <a:endParaRPr lang="en-US" sz="2000" dirty="0">
              <a:latin typeface="Arial" panose="020B0604020202020204" pitchFamily="34" charset="0"/>
              <a:cs typeface="Arial" panose="020B0604020202020204" pitchFamily="34" charset="0"/>
            </a:endParaRPr>
          </a:p>
          <a:p>
            <a:r>
              <a:rPr lang="en-US" sz="2000" b="1" dirty="0">
                <a:latin typeface="Arial" panose="020B0604020202020204" pitchFamily="34" charset="0"/>
                <a:cs typeface="Arial" panose="020B0604020202020204" pitchFamily="34" charset="0"/>
              </a:rPr>
              <a:t>4) Chat output -</a:t>
            </a:r>
            <a:r>
              <a:rPr lang="en-US" sz="2000" dirty="0">
                <a:latin typeface="Arial" panose="020B0604020202020204" pitchFamily="34" charset="0"/>
                <a:cs typeface="Arial" panose="020B0604020202020204" pitchFamily="34" charset="0"/>
              </a:rPr>
              <a:t>Displays AI-generated responses such as diet plans, nutritional analysis, and health suggestions. </a:t>
            </a:r>
          </a:p>
          <a:p>
            <a:endParaRPr lang="en-US" sz="2000" dirty="0">
              <a:latin typeface="Arial" panose="020B0604020202020204" pitchFamily="34" charset="0"/>
              <a:cs typeface="Arial" panose="020B0604020202020204" pitchFamily="34" charset="0"/>
            </a:endParaRPr>
          </a:p>
          <a:p>
            <a:endParaRPr lang="en-IN"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990283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BC3488-96C0-48EA-F531-851211C3730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47D5CDF-7FDB-5DFE-07E7-780A8B07393E}"/>
              </a:ext>
            </a:extLst>
          </p:cNvPr>
          <p:cNvSpPr>
            <a:spLocks noGrp="1"/>
          </p:cNvSpPr>
          <p:nvPr>
            <p:ph type="title"/>
          </p:nvPr>
        </p:nvSpPr>
        <p:spPr>
          <a:xfrm>
            <a:off x="589934" y="365125"/>
            <a:ext cx="10763866" cy="1325563"/>
          </a:xfrm>
        </p:spPr>
        <p:txBody>
          <a:bodyPr>
            <a:normAutofit/>
          </a:bodyPr>
          <a:lstStyle/>
          <a:p>
            <a:r>
              <a:rPr lang="en-US" sz="2800" b="1" u="sng" dirty="0">
                <a:latin typeface="Arial" panose="020B0604020202020204" pitchFamily="34" charset="0"/>
                <a:cs typeface="Arial" panose="020B0604020202020204" pitchFamily="34" charset="0"/>
                <a:sym typeface="Times New Roman"/>
              </a:rPr>
              <a:t>Agent Instructions Screenshot:</a:t>
            </a:r>
            <a:br>
              <a:rPr lang="en-US" sz="2800" b="1" u="sng" dirty="0">
                <a:latin typeface="Arial" panose="020B0604020202020204" pitchFamily="34" charset="0"/>
                <a:cs typeface="Arial" panose="020B0604020202020204" pitchFamily="34" charset="0"/>
                <a:sym typeface="Times New Roman"/>
              </a:rPr>
            </a:br>
            <a:endParaRPr lang="en-IN" sz="2800" u="sng" dirty="0">
              <a:latin typeface="Arial" panose="020B0604020202020204" pitchFamily="34" charset="0"/>
              <a:cs typeface="Arial" panose="020B0604020202020204" pitchFamily="34" charset="0"/>
            </a:endParaRPr>
          </a:p>
        </p:txBody>
      </p:sp>
      <p:pic>
        <p:nvPicPr>
          <p:cNvPr id="5" name="Content Placeholder 4">
            <a:extLst>
              <a:ext uri="{FF2B5EF4-FFF2-40B4-BE49-F238E27FC236}">
                <a16:creationId xmlns:a16="http://schemas.microsoft.com/office/drawing/2014/main" id="{F7A6FA56-208B-9356-FD17-67EDC1C96124}"/>
              </a:ext>
            </a:extLst>
          </p:cNvPr>
          <p:cNvPicPr>
            <a:picLocks noGrp="1" noChangeAspect="1"/>
          </p:cNvPicPr>
          <p:nvPr>
            <p:ph idx="1"/>
          </p:nvPr>
        </p:nvPicPr>
        <p:blipFill>
          <a:blip r:embed="rId2"/>
          <a:stretch>
            <a:fillRect/>
          </a:stretch>
        </p:blipFill>
        <p:spPr>
          <a:xfrm>
            <a:off x="589934" y="1229032"/>
            <a:ext cx="11021963" cy="5348749"/>
          </a:xfrm>
          <a:prstGeom prst="rect">
            <a:avLst/>
          </a:prstGeom>
        </p:spPr>
      </p:pic>
    </p:spTree>
    <p:extLst>
      <p:ext uri="{BB962C8B-B14F-4D97-AF65-F5344CB8AC3E}">
        <p14:creationId xmlns:p14="http://schemas.microsoft.com/office/powerpoint/2010/main" val="9505044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5BCB5E-839B-9FC9-F5AE-D2260AFC7A1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A9B83D9-A2B2-6235-D9C0-5052CABB1239}"/>
              </a:ext>
            </a:extLst>
          </p:cNvPr>
          <p:cNvSpPr>
            <a:spLocks noGrp="1"/>
          </p:cNvSpPr>
          <p:nvPr>
            <p:ph type="title"/>
          </p:nvPr>
        </p:nvSpPr>
        <p:spPr>
          <a:xfrm>
            <a:off x="462116" y="119318"/>
            <a:ext cx="10891684" cy="1325563"/>
          </a:xfrm>
        </p:spPr>
        <p:txBody>
          <a:bodyPr>
            <a:normAutofit/>
          </a:bodyPr>
          <a:lstStyle/>
          <a:p>
            <a:r>
              <a:rPr lang="en-US" sz="2800" b="1" u="sng" dirty="0">
                <a:latin typeface="Arial" panose="020B0604020202020204" pitchFamily="34" charset="0"/>
                <a:cs typeface="Arial" panose="020B0604020202020204" pitchFamily="34" charset="0"/>
                <a:sym typeface="Times New Roman"/>
              </a:rPr>
              <a:t>Prompt with output Screenshot:</a:t>
            </a:r>
            <a:endParaRPr lang="en-US" sz="2800" u="sng" dirty="0">
              <a:latin typeface="Arial" panose="020B0604020202020204" pitchFamily="34" charset="0"/>
              <a:cs typeface="Arial" panose="020B0604020202020204" pitchFamily="34" charset="0"/>
            </a:endParaRPr>
          </a:p>
        </p:txBody>
      </p:sp>
      <p:pic>
        <p:nvPicPr>
          <p:cNvPr id="5" name="Content Placeholder 4">
            <a:extLst>
              <a:ext uri="{FF2B5EF4-FFF2-40B4-BE49-F238E27FC236}">
                <a16:creationId xmlns:a16="http://schemas.microsoft.com/office/drawing/2014/main" id="{D294D7A7-4C29-B4C0-B5C1-A83796B064B2}"/>
              </a:ext>
            </a:extLst>
          </p:cNvPr>
          <p:cNvPicPr>
            <a:picLocks noGrp="1" noChangeAspect="1"/>
          </p:cNvPicPr>
          <p:nvPr>
            <p:ph idx="1"/>
          </p:nvPr>
        </p:nvPicPr>
        <p:blipFill>
          <a:blip r:embed="rId2"/>
          <a:stretch>
            <a:fillRect/>
          </a:stretch>
        </p:blipFill>
        <p:spPr>
          <a:xfrm>
            <a:off x="462116" y="1563330"/>
            <a:ext cx="11139949" cy="5063612"/>
          </a:xfrm>
          <a:prstGeom prst="rect">
            <a:avLst/>
          </a:prstGeom>
        </p:spPr>
      </p:pic>
    </p:spTree>
    <p:extLst>
      <p:ext uri="{BB962C8B-B14F-4D97-AF65-F5344CB8AC3E}">
        <p14:creationId xmlns:p14="http://schemas.microsoft.com/office/powerpoint/2010/main" val="6629379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4C879E-4DEC-5ADA-8462-9C9213692F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264029-35B7-EA15-8E7F-475915A5E357}"/>
              </a:ext>
            </a:extLst>
          </p:cNvPr>
          <p:cNvSpPr>
            <a:spLocks noGrp="1"/>
          </p:cNvSpPr>
          <p:nvPr>
            <p:ph type="title"/>
          </p:nvPr>
        </p:nvSpPr>
        <p:spPr>
          <a:xfrm>
            <a:off x="422787" y="365125"/>
            <a:ext cx="10931013" cy="1325563"/>
          </a:xfrm>
        </p:spPr>
        <p:txBody>
          <a:bodyPr>
            <a:normAutofit/>
          </a:bodyPr>
          <a:lstStyle/>
          <a:p>
            <a:r>
              <a:rPr lang="en-US" sz="2800" b="1" u="sng" dirty="0">
                <a:latin typeface="Arial" panose="020B0604020202020204" pitchFamily="34" charset="0"/>
                <a:cs typeface="Arial" panose="020B0604020202020204" pitchFamily="34" charset="0"/>
                <a:sym typeface="Times New Roman"/>
              </a:rPr>
              <a:t>Prompt with output Screenshot:</a:t>
            </a:r>
            <a:endParaRPr lang="en-IN" sz="2800" dirty="0"/>
          </a:p>
        </p:txBody>
      </p:sp>
      <p:pic>
        <p:nvPicPr>
          <p:cNvPr id="5" name="Content Placeholder 4">
            <a:extLst>
              <a:ext uri="{FF2B5EF4-FFF2-40B4-BE49-F238E27FC236}">
                <a16:creationId xmlns:a16="http://schemas.microsoft.com/office/drawing/2014/main" id="{377CF5FB-5BBC-1D13-D991-3AF28BD31E3C}"/>
              </a:ext>
            </a:extLst>
          </p:cNvPr>
          <p:cNvPicPr>
            <a:picLocks noGrp="1" noChangeAspect="1"/>
          </p:cNvPicPr>
          <p:nvPr>
            <p:ph idx="1"/>
          </p:nvPr>
        </p:nvPicPr>
        <p:blipFill>
          <a:blip r:embed="rId2"/>
          <a:stretch>
            <a:fillRect/>
          </a:stretch>
        </p:blipFill>
        <p:spPr>
          <a:xfrm>
            <a:off x="422787" y="1573160"/>
            <a:ext cx="11139947" cy="5043949"/>
          </a:xfrm>
          <a:prstGeom prst="rect">
            <a:avLst/>
          </a:prstGeom>
        </p:spPr>
      </p:pic>
    </p:spTree>
    <p:extLst>
      <p:ext uri="{BB962C8B-B14F-4D97-AF65-F5344CB8AC3E}">
        <p14:creationId xmlns:p14="http://schemas.microsoft.com/office/powerpoint/2010/main" val="22546481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BB8F03-00AA-0380-0737-598BB786CF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F5DD91-D721-929F-BD89-4695F374894D}"/>
              </a:ext>
            </a:extLst>
          </p:cNvPr>
          <p:cNvSpPr>
            <a:spLocks noGrp="1"/>
          </p:cNvSpPr>
          <p:nvPr>
            <p:ph type="title"/>
          </p:nvPr>
        </p:nvSpPr>
        <p:spPr/>
        <p:txBody>
          <a:bodyPr/>
          <a:lstStyle/>
          <a:p>
            <a:endParaRPr lang="en-IN" dirty="0"/>
          </a:p>
        </p:txBody>
      </p:sp>
      <p:sp>
        <p:nvSpPr>
          <p:cNvPr id="9" name="Content Placeholder 8">
            <a:extLst>
              <a:ext uri="{FF2B5EF4-FFF2-40B4-BE49-F238E27FC236}">
                <a16:creationId xmlns:a16="http://schemas.microsoft.com/office/drawing/2014/main" id="{546FE4B1-8585-A98F-ED13-B7749CC752C8}"/>
              </a:ext>
            </a:extLst>
          </p:cNvPr>
          <p:cNvSpPr>
            <a:spLocks noGrp="1"/>
          </p:cNvSpPr>
          <p:nvPr>
            <p:ph idx="1"/>
          </p:nvPr>
        </p:nvSpPr>
        <p:spPr>
          <a:xfrm>
            <a:off x="838200" y="1825624"/>
            <a:ext cx="10515600" cy="4803775"/>
          </a:xfrm>
        </p:spPr>
        <p:txBody>
          <a:bodyPr>
            <a:normAutofit/>
          </a:bodyPr>
          <a:lstStyle/>
          <a:p>
            <a:endParaRPr lang="en-IN" dirty="0"/>
          </a:p>
          <a:p>
            <a:endParaRPr lang="en-IN" dirty="0"/>
          </a:p>
        </p:txBody>
      </p:sp>
    </p:spTree>
    <p:extLst>
      <p:ext uri="{BB962C8B-B14F-4D97-AF65-F5344CB8AC3E}">
        <p14:creationId xmlns:p14="http://schemas.microsoft.com/office/powerpoint/2010/main" val="4467076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02F537-7783-924C-8FC5-45FEDF41160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9A1E58-6FEA-ADFA-86D9-5E7838A52FD8}"/>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F141B60E-072F-CEA9-AB14-E8320F81B5C7}"/>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31733397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AB9DDB-D6DB-7EF2-828F-BB5F260D5BA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7436FF-F00A-9D16-9B1D-3892CA8731B1}"/>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E9D1E3F7-183A-9D86-02CF-D2E4D05A0E2B}"/>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31136779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1F7DEC-1BE1-C6A1-1FB1-38E4D89A55C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20529D9-BD00-6393-85B2-1657724E4426}"/>
              </a:ext>
            </a:extLst>
          </p:cNvPr>
          <p:cNvSpPr>
            <a:spLocks noGrp="1"/>
          </p:cNvSpPr>
          <p:nvPr>
            <p:ph type="title"/>
          </p:nvPr>
        </p:nvSpPr>
        <p:spPr>
          <a:xfrm>
            <a:off x="426027" y="365125"/>
            <a:ext cx="10927773" cy="1325563"/>
          </a:xfrm>
        </p:spPr>
        <p:txBody>
          <a:bodyPr>
            <a:normAutofit/>
          </a:bodyPr>
          <a:lstStyle/>
          <a:p>
            <a:r>
              <a:rPr lang="en-US" sz="2800" b="1" u="sng" dirty="0">
                <a:latin typeface="Arial" panose="020B0604020202020204" pitchFamily="34" charset="0"/>
                <a:cs typeface="Arial" panose="020B0604020202020204" pitchFamily="34" charset="0"/>
              </a:rPr>
              <a:t>Role of Agentic AI in the solution: </a:t>
            </a:r>
            <a:br>
              <a:rPr lang="en-IN" sz="2800" b="1" u="sng" dirty="0">
                <a:latin typeface="Arial" panose="020B0604020202020204" pitchFamily="34" charset="0"/>
                <a:cs typeface="Arial" panose="020B0604020202020204" pitchFamily="34" charset="0"/>
              </a:rPr>
            </a:br>
            <a:endParaRPr lang="en-IN" sz="2800" u="sng"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6C661E43-2601-6408-7E0D-75D23E9E71C2}"/>
              </a:ext>
            </a:extLst>
          </p:cNvPr>
          <p:cNvSpPr>
            <a:spLocks noGrp="1"/>
          </p:cNvSpPr>
          <p:nvPr>
            <p:ph idx="1"/>
          </p:nvPr>
        </p:nvSpPr>
        <p:spPr>
          <a:xfrm>
            <a:off x="498764" y="1433945"/>
            <a:ext cx="10855036" cy="4743018"/>
          </a:xfrm>
        </p:spPr>
        <p:txBody>
          <a:bodyPr>
            <a:normAutofit/>
          </a:bodyPr>
          <a:lstStyle/>
          <a:p>
            <a:pPr marL="0" indent="0">
              <a:buNone/>
            </a:pPr>
            <a:r>
              <a:rPr lang="en-IN" sz="2000" dirty="0">
                <a:latin typeface="Arial" panose="020B0604020202020204" pitchFamily="34" charset="0"/>
                <a:cs typeface="Arial" panose="020B0604020202020204" pitchFamily="34" charset="0"/>
              </a:rPr>
              <a:t>Agentic AI enables multiple specialized agents to collaborate and deliver personalized mental health support.</a:t>
            </a:r>
          </a:p>
          <a:p>
            <a:pPr marL="0" indent="0">
              <a:buNone/>
            </a:pPr>
            <a:r>
              <a:rPr lang="en-IN" sz="2000" dirty="0">
                <a:latin typeface="Arial" panose="020B0604020202020204" pitchFamily="34" charset="0"/>
                <a:cs typeface="Arial" panose="020B0604020202020204" pitchFamily="34" charset="0"/>
              </a:rPr>
              <a:t>Instead of functioning as a basic chatbot, each agent independently performs a dedicated task while working together to provide reliable guidance.</a:t>
            </a:r>
          </a:p>
          <a:p>
            <a:pPr marL="0" indent="0">
              <a:buNone/>
            </a:pPr>
            <a:r>
              <a:rPr lang="en-IN" sz="2000" b="1" dirty="0">
                <a:latin typeface="Arial" panose="020B0604020202020204" pitchFamily="34" charset="0"/>
                <a:cs typeface="Arial" panose="020B0604020202020204" pitchFamily="34" charset="0"/>
              </a:rPr>
              <a:t>The AI can:</a:t>
            </a:r>
          </a:p>
          <a:p>
            <a:r>
              <a:rPr lang="en-IN" sz="2000" dirty="0" err="1">
                <a:latin typeface="Arial" panose="020B0604020202020204" pitchFamily="34" charset="0"/>
                <a:cs typeface="Arial" panose="020B0604020202020204" pitchFamily="34" charset="0"/>
              </a:rPr>
              <a:t>Analyze</a:t>
            </a:r>
            <a:r>
              <a:rPr lang="en-IN" sz="2000" dirty="0">
                <a:latin typeface="Arial" panose="020B0604020202020204" pitchFamily="34" charset="0"/>
                <a:cs typeface="Arial" panose="020B0604020202020204" pitchFamily="34" charset="0"/>
              </a:rPr>
              <a:t> emotions </a:t>
            </a:r>
          </a:p>
          <a:p>
            <a:r>
              <a:rPr lang="en-IN" sz="2000" dirty="0">
                <a:latin typeface="Arial" panose="020B0604020202020204" pitchFamily="34" charset="0"/>
                <a:cs typeface="Arial" panose="020B0604020202020204" pitchFamily="34" charset="0"/>
              </a:rPr>
              <a:t>Retrieve trusted mental health information </a:t>
            </a:r>
          </a:p>
          <a:p>
            <a:r>
              <a:rPr lang="en-IN" sz="2000" dirty="0">
                <a:latin typeface="Arial" panose="020B0604020202020204" pitchFamily="34" charset="0"/>
                <a:cs typeface="Arial" panose="020B0604020202020204" pitchFamily="34" charset="0"/>
              </a:rPr>
              <a:t>Recommend coping strategies </a:t>
            </a:r>
          </a:p>
          <a:p>
            <a:r>
              <a:rPr lang="en-IN" sz="2000" dirty="0">
                <a:latin typeface="Arial" panose="020B0604020202020204" pitchFamily="34" charset="0"/>
                <a:cs typeface="Arial" panose="020B0604020202020204" pitchFamily="34" charset="0"/>
              </a:rPr>
              <a:t>Detect emotional distress </a:t>
            </a:r>
          </a:p>
          <a:p>
            <a:r>
              <a:rPr lang="en-IN" sz="2000" dirty="0">
                <a:latin typeface="Arial" panose="020B0604020202020204" pitchFamily="34" charset="0"/>
                <a:cs typeface="Arial" panose="020B0604020202020204" pitchFamily="34" charset="0"/>
              </a:rPr>
              <a:t>Guide users toward professional help </a:t>
            </a:r>
          </a:p>
          <a:p>
            <a:endParaRPr lang="en-IN"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7812892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E407A7-965D-0147-B8A8-97D164A4944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9A8C61-8E2B-8A00-8A4B-1CF4CB03213F}"/>
              </a:ext>
            </a:extLst>
          </p:cNvPr>
          <p:cNvSpPr>
            <a:spLocks noGrp="1"/>
          </p:cNvSpPr>
          <p:nvPr>
            <p:ph type="title"/>
          </p:nvPr>
        </p:nvSpPr>
        <p:spPr/>
        <p:txBody>
          <a:bodyPr>
            <a:normAutofit/>
          </a:bodyPr>
          <a:lstStyle/>
          <a:p>
            <a:r>
              <a:rPr lang="en-US" sz="2800" b="1" u="sng" dirty="0">
                <a:latin typeface="Arial" panose="020B0604020202020204" pitchFamily="34" charset="0"/>
                <a:cs typeface="Arial" panose="020B0604020202020204" pitchFamily="34" charset="0"/>
              </a:rPr>
              <a:t>Novelty and Uniqueness-</a:t>
            </a:r>
            <a:endParaRPr lang="en-IN" sz="2800" u="sng" dirty="0"/>
          </a:p>
        </p:txBody>
      </p:sp>
      <p:sp>
        <p:nvSpPr>
          <p:cNvPr id="3" name="Content Placeholder 2">
            <a:extLst>
              <a:ext uri="{FF2B5EF4-FFF2-40B4-BE49-F238E27FC236}">
                <a16:creationId xmlns:a16="http://schemas.microsoft.com/office/drawing/2014/main" id="{CB2CDDE5-2038-223C-9C43-BF9E25BBEF14}"/>
              </a:ext>
            </a:extLst>
          </p:cNvPr>
          <p:cNvSpPr>
            <a:spLocks noGrp="1"/>
          </p:cNvSpPr>
          <p:nvPr>
            <p:ph idx="1"/>
          </p:nvPr>
        </p:nvSpPr>
        <p:spPr/>
        <p:txBody>
          <a:bodyPr/>
          <a:lstStyle/>
          <a:p>
            <a:endParaRPr lang="en-IN" dirty="0"/>
          </a:p>
        </p:txBody>
      </p:sp>
    </p:spTree>
    <p:extLst>
      <p:ext uri="{BB962C8B-B14F-4D97-AF65-F5344CB8AC3E}">
        <p14:creationId xmlns:p14="http://schemas.microsoft.com/office/powerpoint/2010/main" val="23063074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415ED8-D58B-D53D-34D0-E38B09C31C2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8EC73F-0137-41D0-028B-917A2844171B}"/>
              </a:ext>
            </a:extLst>
          </p:cNvPr>
          <p:cNvSpPr>
            <a:spLocks noGrp="1"/>
          </p:cNvSpPr>
          <p:nvPr>
            <p:ph type="title"/>
          </p:nvPr>
        </p:nvSpPr>
        <p:spPr/>
        <p:txBody>
          <a:bodyPr/>
          <a:lstStyle/>
          <a:p>
            <a:r>
              <a:rPr lang="en-US" sz="2800" b="1" u="sng" dirty="0">
                <a:latin typeface="Arial" panose="020B0604020202020204" pitchFamily="34" charset="0"/>
                <a:cs typeface="Arial" panose="020B0604020202020204" pitchFamily="34" charset="0"/>
                <a:sym typeface="Times New Roman"/>
              </a:rPr>
              <a:t>Git Hub Link-</a:t>
            </a:r>
            <a:br>
              <a:rPr lang="en-US" b="1" dirty="0">
                <a:sym typeface="Times New Roman"/>
              </a:rPr>
            </a:br>
            <a:endParaRPr lang="en-IN" dirty="0"/>
          </a:p>
        </p:txBody>
      </p:sp>
      <p:sp>
        <p:nvSpPr>
          <p:cNvPr id="3" name="Content Placeholder 2">
            <a:extLst>
              <a:ext uri="{FF2B5EF4-FFF2-40B4-BE49-F238E27FC236}">
                <a16:creationId xmlns:a16="http://schemas.microsoft.com/office/drawing/2014/main" id="{6396B2F4-10D3-FCA5-6012-5128F3FAA8B2}"/>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267269344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DCF99E-B9DC-0D7B-9C0B-3D147947BE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1574C9E-AF8B-8B8F-A1C2-371A641D713B}"/>
              </a:ext>
            </a:extLst>
          </p:cNvPr>
          <p:cNvSpPr>
            <a:spLocks noGrp="1"/>
          </p:cNvSpPr>
          <p:nvPr>
            <p:ph type="title"/>
          </p:nvPr>
        </p:nvSpPr>
        <p:spPr>
          <a:xfrm>
            <a:off x="373626" y="256971"/>
            <a:ext cx="10980174" cy="1099882"/>
          </a:xfrm>
        </p:spPr>
        <p:txBody>
          <a:bodyPr/>
          <a:lstStyle/>
          <a:p>
            <a:r>
              <a:rPr lang="en-US" sz="2800" b="1" u="sng" dirty="0">
                <a:latin typeface="Arial" panose="020B0604020202020204" pitchFamily="34" charset="0"/>
                <a:cs typeface="Arial" panose="020B0604020202020204" pitchFamily="34" charset="0"/>
                <a:sym typeface="Times New Roman"/>
              </a:rPr>
              <a:t>Future Scope-</a:t>
            </a:r>
            <a:br>
              <a:rPr lang="en-US" b="1" dirty="0">
                <a:sym typeface="Times New Roman"/>
              </a:rPr>
            </a:br>
            <a:endParaRPr lang="en-IN" dirty="0"/>
          </a:p>
        </p:txBody>
      </p:sp>
      <p:sp>
        <p:nvSpPr>
          <p:cNvPr id="3" name="Content Placeholder 2">
            <a:extLst>
              <a:ext uri="{FF2B5EF4-FFF2-40B4-BE49-F238E27FC236}">
                <a16:creationId xmlns:a16="http://schemas.microsoft.com/office/drawing/2014/main" id="{CEBA56A8-A8A4-3EA4-AEE8-83B2793AD2DD}"/>
              </a:ext>
            </a:extLst>
          </p:cNvPr>
          <p:cNvSpPr>
            <a:spLocks noGrp="1"/>
          </p:cNvSpPr>
          <p:nvPr>
            <p:ph idx="1"/>
          </p:nvPr>
        </p:nvSpPr>
        <p:spPr>
          <a:xfrm>
            <a:off x="373626" y="973394"/>
            <a:ext cx="10980174" cy="5519481"/>
          </a:xfrm>
        </p:spPr>
        <p:txBody>
          <a:bodyPr>
            <a:noAutofit/>
          </a:bodyPr>
          <a:lstStyle/>
          <a:p>
            <a:pPr marL="0" indent="0">
              <a:buNone/>
            </a:pPr>
            <a:r>
              <a:rPr lang="en-IN" sz="2000" b="1" dirty="0">
                <a:latin typeface="Arial" panose="020B0604020202020204" pitchFamily="34" charset="0"/>
                <a:cs typeface="Arial" panose="020B0604020202020204" pitchFamily="34" charset="0"/>
              </a:rPr>
              <a:t>1. </a:t>
            </a:r>
            <a:r>
              <a:rPr lang="en-IN" sz="2000" b="1" u="sng" dirty="0">
                <a:latin typeface="Arial" panose="020B0604020202020204" pitchFamily="34" charset="0"/>
                <a:cs typeface="Arial" panose="020B0604020202020204" pitchFamily="34" charset="0"/>
              </a:rPr>
              <a:t>Wearable Device Integration</a:t>
            </a:r>
          </a:p>
          <a:p>
            <a:r>
              <a:rPr lang="en-IN" sz="2000" dirty="0">
                <a:latin typeface="Arial" panose="020B0604020202020204" pitchFamily="34" charset="0"/>
                <a:cs typeface="Arial" panose="020B0604020202020204" pitchFamily="34" charset="0"/>
              </a:rPr>
              <a:t>Integrate the system with smartwatches and fitness trackers to monitor heart rate, sleep patterns, and stress indicators. This will enable the AI agent to provide more personalized and real-time wellness recommendations.</a:t>
            </a:r>
          </a:p>
          <a:p>
            <a:pPr marL="0" indent="0">
              <a:buNone/>
            </a:pPr>
            <a:r>
              <a:rPr lang="en-IN" sz="2000" b="1" dirty="0">
                <a:latin typeface="Arial" panose="020B0604020202020204" pitchFamily="34" charset="0"/>
                <a:cs typeface="Arial" panose="020B0604020202020204" pitchFamily="34" charset="0"/>
              </a:rPr>
              <a:t>2. </a:t>
            </a:r>
            <a:r>
              <a:rPr lang="en-IN" sz="2000" b="1" u="sng" dirty="0">
                <a:latin typeface="Arial" panose="020B0604020202020204" pitchFamily="34" charset="0"/>
                <a:cs typeface="Arial" panose="020B0604020202020204" pitchFamily="34" charset="0"/>
              </a:rPr>
              <a:t>Predictive Mental Health Analytics</a:t>
            </a:r>
          </a:p>
          <a:p>
            <a:r>
              <a:rPr lang="en-IN" sz="2000" dirty="0">
                <a:latin typeface="Arial" panose="020B0604020202020204" pitchFamily="34" charset="0"/>
                <a:cs typeface="Arial" panose="020B0604020202020204" pitchFamily="34" charset="0"/>
              </a:rPr>
              <a:t>Leverage AI and historical user data to identify early signs of stress, anxiety, or depression and provide proactive recommendations before conditions worsen.</a:t>
            </a:r>
          </a:p>
          <a:p>
            <a:pPr marL="0" indent="0">
              <a:buNone/>
            </a:pPr>
            <a:r>
              <a:rPr lang="en-IN" sz="2000" b="1" dirty="0">
                <a:latin typeface="Arial" panose="020B0604020202020204" pitchFamily="34" charset="0"/>
                <a:cs typeface="Arial" panose="020B0604020202020204" pitchFamily="34" charset="0"/>
              </a:rPr>
              <a:t>3. </a:t>
            </a:r>
            <a:r>
              <a:rPr lang="en-IN" sz="2000" b="1" u="sng" dirty="0">
                <a:latin typeface="Arial" panose="020B0604020202020204" pitchFamily="34" charset="0"/>
                <a:cs typeface="Arial" panose="020B0604020202020204" pitchFamily="34" charset="0"/>
              </a:rPr>
              <a:t>Hospital &amp; Telehealth Integration</a:t>
            </a:r>
          </a:p>
          <a:p>
            <a:r>
              <a:rPr lang="en-IN" sz="2000" dirty="0">
                <a:latin typeface="Arial" panose="020B0604020202020204" pitchFamily="34" charset="0"/>
                <a:cs typeface="Arial" panose="020B0604020202020204" pitchFamily="34" charset="0"/>
              </a:rPr>
              <a:t>Connect the platform with hospitals, psychologists, </a:t>
            </a:r>
            <a:r>
              <a:rPr lang="en-IN" sz="2000" dirty="0" err="1">
                <a:latin typeface="Arial" panose="020B0604020202020204" pitchFamily="34" charset="0"/>
                <a:cs typeface="Arial" panose="020B0604020202020204" pitchFamily="34" charset="0"/>
              </a:rPr>
              <a:t>counselors</a:t>
            </a:r>
            <a:r>
              <a:rPr lang="en-IN" sz="2000" dirty="0">
                <a:latin typeface="Arial" panose="020B0604020202020204" pitchFamily="34" charset="0"/>
                <a:cs typeface="Arial" panose="020B0604020202020204" pitchFamily="34" charset="0"/>
              </a:rPr>
              <a:t>, and telemedicine services to facilitate seamless referrals and appointment scheduling.</a:t>
            </a:r>
          </a:p>
          <a:p>
            <a:pPr marL="0" indent="0">
              <a:buNone/>
            </a:pPr>
            <a:r>
              <a:rPr lang="en-IN" sz="2000" b="1" dirty="0">
                <a:latin typeface="Arial" panose="020B0604020202020204" pitchFamily="34" charset="0"/>
                <a:cs typeface="Arial" panose="020B0604020202020204" pitchFamily="34" charset="0"/>
              </a:rPr>
              <a:t>4. </a:t>
            </a:r>
            <a:r>
              <a:rPr lang="en-IN" sz="2000" b="1" u="sng" dirty="0">
                <a:latin typeface="Arial" panose="020B0604020202020204" pitchFamily="34" charset="0"/>
                <a:cs typeface="Arial" panose="020B0604020202020204" pitchFamily="34" charset="0"/>
              </a:rPr>
              <a:t>Personalized Wellness Dashboard</a:t>
            </a:r>
          </a:p>
          <a:p>
            <a:r>
              <a:rPr lang="en-IN" sz="2000" dirty="0">
                <a:latin typeface="Arial" panose="020B0604020202020204" pitchFamily="34" charset="0"/>
                <a:cs typeface="Arial" panose="020B0604020202020204" pitchFamily="34" charset="0"/>
              </a:rPr>
              <a:t>Enhance the dashboard with mood trends, emotional insights, sleep analysis, goal tracking, and personalized wellness reports to help users monitor their mental well-being over time.</a:t>
            </a:r>
          </a:p>
          <a:p>
            <a:pPr marL="0" indent="0">
              <a:buNone/>
            </a:pPr>
            <a:r>
              <a:rPr lang="en-IN" sz="2000" b="1" dirty="0">
                <a:latin typeface="Arial" panose="020B0604020202020204" pitchFamily="34" charset="0"/>
                <a:cs typeface="Arial" panose="020B0604020202020204" pitchFamily="34" charset="0"/>
              </a:rPr>
              <a:t>5. </a:t>
            </a:r>
            <a:r>
              <a:rPr lang="en-IN" sz="2000" b="1" u="sng" dirty="0">
                <a:latin typeface="Arial" panose="020B0604020202020204" pitchFamily="34" charset="0"/>
                <a:cs typeface="Arial" panose="020B0604020202020204" pitchFamily="34" charset="0"/>
              </a:rPr>
              <a:t>Emergency Response System</a:t>
            </a:r>
          </a:p>
          <a:p>
            <a:r>
              <a:rPr lang="en-IN" sz="2000" dirty="0">
                <a:latin typeface="Arial" panose="020B0604020202020204" pitchFamily="34" charset="0"/>
                <a:cs typeface="Arial" panose="020B0604020202020204" pitchFamily="34" charset="0"/>
              </a:rPr>
              <a:t>Implement an intelligent crisis support system that can detect high-risk situations and, with user consent, notify trusted contacts or connect users to emergency helplines.</a:t>
            </a:r>
          </a:p>
          <a:p>
            <a:endParaRPr lang="en-IN"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708767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01CFCA-CDEF-4FBE-112D-92DB617752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F9ABA1F-24B6-099C-C65B-BBC95D481646}"/>
              </a:ext>
            </a:extLst>
          </p:cNvPr>
          <p:cNvSpPr>
            <a:spLocks noGrp="1"/>
          </p:cNvSpPr>
          <p:nvPr>
            <p:ph type="title"/>
          </p:nvPr>
        </p:nvSpPr>
        <p:spPr>
          <a:xfrm>
            <a:off x="513735" y="197976"/>
            <a:ext cx="10515600" cy="1325563"/>
          </a:xfrm>
        </p:spPr>
        <p:txBody>
          <a:bodyPr>
            <a:normAutofit/>
          </a:bodyPr>
          <a:lstStyle/>
          <a:p>
            <a:r>
              <a:rPr lang="en-IN" sz="2800" b="1" u="sng" dirty="0">
                <a:latin typeface="Arial" panose="020B0604020202020204" pitchFamily="34" charset="0"/>
                <a:cs typeface="Arial" panose="020B0604020202020204" pitchFamily="34" charset="0"/>
              </a:rPr>
              <a:t>Certificates :-</a:t>
            </a:r>
            <a:br>
              <a:rPr lang="en-IN" sz="2800" b="1" u="sng" dirty="0">
                <a:latin typeface="Arial" panose="020B0604020202020204" pitchFamily="34" charset="0"/>
                <a:cs typeface="Arial" panose="020B0604020202020204" pitchFamily="34" charset="0"/>
              </a:rPr>
            </a:br>
            <a:endParaRPr lang="en-IN" sz="2800" u="sng" dirty="0">
              <a:latin typeface="Arial" panose="020B0604020202020204" pitchFamily="34" charset="0"/>
              <a:cs typeface="Arial" panose="020B0604020202020204" pitchFamily="34" charset="0"/>
            </a:endParaRPr>
          </a:p>
        </p:txBody>
      </p:sp>
      <p:pic>
        <p:nvPicPr>
          <p:cNvPr id="5" name="Content Placeholder 4">
            <a:extLst>
              <a:ext uri="{FF2B5EF4-FFF2-40B4-BE49-F238E27FC236}">
                <a16:creationId xmlns:a16="http://schemas.microsoft.com/office/drawing/2014/main" id="{8E697565-B99A-371F-8D63-3D92632D8E07}"/>
              </a:ext>
            </a:extLst>
          </p:cNvPr>
          <p:cNvPicPr>
            <a:picLocks noGrp="1" noChangeAspect="1"/>
          </p:cNvPicPr>
          <p:nvPr>
            <p:ph idx="1"/>
          </p:nvPr>
        </p:nvPicPr>
        <p:blipFill>
          <a:blip r:embed="rId2"/>
          <a:stretch>
            <a:fillRect/>
          </a:stretch>
        </p:blipFill>
        <p:spPr>
          <a:xfrm>
            <a:off x="2104103" y="1523539"/>
            <a:ext cx="7197213" cy="4926422"/>
          </a:xfrm>
          <a:prstGeom prst="rect">
            <a:avLst/>
          </a:prstGeom>
        </p:spPr>
      </p:pic>
    </p:spTree>
    <p:extLst>
      <p:ext uri="{BB962C8B-B14F-4D97-AF65-F5344CB8AC3E}">
        <p14:creationId xmlns:p14="http://schemas.microsoft.com/office/powerpoint/2010/main" val="377570418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E30173-FC0D-958C-B56E-C7D4C87F3CD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CE5ED5D-B118-2258-CE3C-81A7B4083B59}"/>
              </a:ext>
            </a:extLst>
          </p:cNvPr>
          <p:cNvSpPr>
            <a:spLocks noGrp="1"/>
          </p:cNvSpPr>
          <p:nvPr>
            <p:ph type="title"/>
          </p:nvPr>
        </p:nvSpPr>
        <p:spPr>
          <a:xfrm>
            <a:off x="513735" y="197976"/>
            <a:ext cx="10515600" cy="1325563"/>
          </a:xfrm>
        </p:spPr>
        <p:txBody>
          <a:bodyPr>
            <a:normAutofit/>
          </a:bodyPr>
          <a:lstStyle/>
          <a:p>
            <a:r>
              <a:rPr lang="en-IN" sz="2800" b="1" u="sng" dirty="0">
                <a:latin typeface="Arial" panose="020B0604020202020204" pitchFamily="34" charset="0"/>
                <a:cs typeface="Arial" panose="020B0604020202020204" pitchFamily="34" charset="0"/>
              </a:rPr>
              <a:t>Certificates :-</a:t>
            </a:r>
            <a:br>
              <a:rPr lang="en-IN" sz="2800" b="1" u="sng" dirty="0">
                <a:latin typeface="Arial" panose="020B0604020202020204" pitchFamily="34" charset="0"/>
                <a:cs typeface="Arial" panose="020B0604020202020204" pitchFamily="34" charset="0"/>
              </a:rPr>
            </a:br>
            <a:endParaRPr lang="en-IN" sz="2800" u="sng" dirty="0">
              <a:latin typeface="Arial" panose="020B0604020202020204" pitchFamily="34" charset="0"/>
              <a:cs typeface="Arial" panose="020B0604020202020204" pitchFamily="34" charset="0"/>
            </a:endParaRPr>
          </a:p>
        </p:txBody>
      </p:sp>
      <p:pic>
        <p:nvPicPr>
          <p:cNvPr id="7" name="Content Placeholder 6">
            <a:extLst>
              <a:ext uri="{FF2B5EF4-FFF2-40B4-BE49-F238E27FC236}">
                <a16:creationId xmlns:a16="http://schemas.microsoft.com/office/drawing/2014/main" id="{E116A92A-0A95-9AA1-457F-6DCDB5B0E705}"/>
              </a:ext>
            </a:extLst>
          </p:cNvPr>
          <p:cNvPicPr>
            <a:picLocks noGrp="1" noChangeAspect="1"/>
          </p:cNvPicPr>
          <p:nvPr>
            <p:ph idx="1"/>
          </p:nvPr>
        </p:nvPicPr>
        <p:blipFill>
          <a:blip r:embed="rId2"/>
          <a:stretch>
            <a:fillRect/>
          </a:stretch>
        </p:blipFill>
        <p:spPr>
          <a:xfrm>
            <a:off x="1995948" y="1523540"/>
            <a:ext cx="7561007" cy="5024744"/>
          </a:xfrm>
          <a:prstGeom prst="rect">
            <a:avLst/>
          </a:prstGeom>
        </p:spPr>
      </p:pic>
    </p:spTree>
    <p:extLst>
      <p:ext uri="{BB962C8B-B14F-4D97-AF65-F5344CB8AC3E}">
        <p14:creationId xmlns:p14="http://schemas.microsoft.com/office/powerpoint/2010/main" val="42513381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9B9550-F81E-D6E4-1F39-ECAFEAD6D83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923C258-CA66-B9BA-4AD0-780323057114}"/>
              </a:ext>
            </a:extLst>
          </p:cNvPr>
          <p:cNvSpPr>
            <a:spLocks noGrp="1"/>
          </p:cNvSpPr>
          <p:nvPr>
            <p:ph type="title"/>
          </p:nvPr>
        </p:nvSpPr>
        <p:spPr>
          <a:xfrm>
            <a:off x="513735" y="197976"/>
            <a:ext cx="10515600" cy="1325563"/>
          </a:xfrm>
        </p:spPr>
        <p:txBody>
          <a:bodyPr>
            <a:normAutofit/>
          </a:bodyPr>
          <a:lstStyle/>
          <a:p>
            <a:r>
              <a:rPr lang="en-IN" sz="2800" b="1" u="sng" dirty="0">
                <a:latin typeface="Arial" panose="020B0604020202020204" pitchFamily="34" charset="0"/>
                <a:cs typeface="Arial" panose="020B0604020202020204" pitchFamily="34" charset="0"/>
              </a:rPr>
              <a:t>Certificates :-</a:t>
            </a:r>
            <a:br>
              <a:rPr lang="en-IN" sz="2800" b="1" u="sng" dirty="0">
                <a:latin typeface="Arial" panose="020B0604020202020204" pitchFamily="34" charset="0"/>
                <a:cs typeface="Arial" panose="020B0604020202020204" pitchFamily="34" charset="0"/>
              </a:rPr>
            </a:br>
            <a:endParaRPr lang="en-IN" sz="2800" u="sng" dirty="0">
              <a:latin typeface="Arial" panose="020B0604020202020204" pitchFamily="34" charset="0"/>
              <a:cs typeface="Arial" panose="020B0604020202020204" pitchFamily="34" charset="0"/>
            </a:endParaRPr>
          </a:p>
        </p:txBody>
      </p:sp>
      <p:sp>
        <p:nvSpPr>
          <p:cNvPr id="4" name="Content Placeholder 3">
            <a:extLst>
              <a:ext uri="{FF2B5EF4-FFF2-40B4-BE49-F238E27FC236}">
                <a16:creationId xmlns:a16="http://schemas.microsoft.com/office/drawing/2014/main" id="{9DED1CC1-6704-4316-8A2D-586639395C65}"/>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210339175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D08575D-02C9-3F39-5B19-1FD65345F998}"/>
              </a:ext>
            </a:extLst>
          </p:cNvPr>
          <p:cNvSpPr>
            <a:spLocks noGrp="1"/>
          </p:cNvSpPr>
          <p:nvPr>
            <p:ph type="title"/>
          </p:nvPr>
        </p:nvSpPr>
        <p:spPr>
          <a:xfrm>
            <a:off x="3362632" y="2766218"/>
            <a:ext cx="7991168" cy="1325563"/>
          </a:xfrm>
        </p:spPr>
        <p:txBody>
          <a:bodyPr/>
          <a:lstStyle/>
          <a:p>
            <a:r>
              <a:rPr lang="en-IN" b="1" dirty="0">
                <a:latin typeface="Arial" panose="020B0604020202020204" pitchFamily="34" charset="0"/>
                <a:cs typeface="Arial" panose="020B0604020202020204" pitchFamily="34" charset="0"/>
              </a:rPr>
              <a:t>THANK YOU!</a:t>
            </a:r>
          </a:p>
        </p:txBody>
      </p:sp>
    </p:spTree>
    <p:extLst>
      <p:ext uri="{BB962C8B-B14F-4D97-AF65-F5344CB8AC3E}">
        <p14:creationId xmlns:p14="http://schemas.microsoft.com/office/powerpoint/2010/main" val="159323993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451</TotalTime>
  <Words>732</Words>
  <Application>Microsoft Office PowerPoint</Application>
  <PresentationFormat>Widescreen</PresentationFormat>
  <Paragraphs>80</Paragraphs>
  <Slides>20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20</vt:i4>
      </vt:variant>
    </vt:vector>
  </HeadingPairs>
  <TitlesOfParts>
    <vt:vector size="26" baseType="lpstr">
      <vt:lpstr>Aptos</vt:lpstr>
      <vt:lpstr>Aptos Display</vt:lpstr>
      <vt:lpstr>Arial</vt:lpstr>
      <vt:lpstr>Calibri</vt:lpstr>
      <vt:lpstr>Times New Roman</vt:lpstr>
      <vt:lpstr>Office Theme</vt:lpstr>
      <vt:lpstr>IBM University Engagement Project Submission </vt:lpstr>
      <vt:lpstr>Project Title :– Agentic AI for Mental Health Awareness &amp; Suicide Prevention  Domain of Project :- Healthcare awareness</vt:lpstr>
      <vt:lpstr>Problem Statement:</vt:lpstr>
      <vt:lpstr>Proposed Solution:</vt:lpstr>
      <vt:lpstr>Technology Used:</vt:lpstr>
      <vt:lpstr>Orchestrate component Used: </vt:lpstr>
      <vt:lpstr>Agent Instructions Screenshot: </vt:lpstr>
      <vt:lpstr>Prompt with output Screenshot:</vt:lpstr>
      <vt:lpstr>Prompt with output Screenshot:</vt:lpstr>
      <vt:lpstr>PowerPoint Presentation</vt:lpstr>
      <vt:lpstr>PowerPoint Presentation</vt:lpstr>
      <vt:lpstr>PowerPoint Presentation</vt:lpstr>
      <vt:lpstr>Role of Agentic AI in the solution:  </vt:lpstr>
      <vt:lpstr>Novelty and Uniqueness-</vt:lpstr>
      <vt:lpstr>Git Hub Link- </vt:lpstr>
      <vt:lpstr>Future Scope- </vt:lpstr>
      <vt:lpstr>Certificates :- </vt:lpstr>
      <vt:lpstr>Certificates :- </vt:lpstr>
      <vt:lpstr>Certificates :-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swarathorat21@outlook.com</dc:creator>
  <cp:lastModifiedBy>swarathorat21@outlook.com</cp:lastModifiedBy>
  <cp:revision>2</cp:revision>
  <dcterms:created xsi:type="dcterms:W3CDTF">2026-06-26T12:07:08Z</dcterms:created>
  <dcterms:modified xsi:type="dcterms:W3CDTF">2026-06-26T19:39:03Z</dcterms:modified>
</cp:coreProperties>
</file>